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3.xml" ContentType="application/vnd.openxmlformats-officedocument.themeOverr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89" r:id="rId5"/>
    <p:sldId id="286" r:id="rId6"/>
    <p:sldId id="280" r:id="rId7"/>
    <p:sldId id="272" r:id="rId8"/>
    <p:sldId id="298" r:id="rId9"/>
    <p:sldId id="281" r:id="rId10"/>
    <p:sldId id="291" r:id="rId11"/>
    <p:sldId id="273" r:id="rId12"/>
    <p:sldId id="264" r:id="rId13"/>
    <p:sldId id="293" r:id="rId14"/>
    <p:sldId id="268" r:id="rId15"/>
    <p:sldId id="294" r:id="rId16"/>
    <p:sldId id="278" r:id="rId17"/>
    <p:sldId id="287" r:id="rId18"/>
    <p:sldId id="288" r:id="rId19"/>
    <p:sldId id="295" r:id="rId20"/>
    <p:sldId id="296" r:id="rId21"/>
    <p:sldId id="29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13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0A2"/>
    <a:srgbClr val="40404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51DCB-5F49-426B-AF5C-A45F23550DAF}" v="3" dt="2026-05-14T08:58:10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7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Mishra" userId="9f7b4f520881ad8a" providerId="LiveId" clId="{59BA031D-80CB-4DB9-B929-70658A7DECF9}"/>
    <pc:docChg chg="undo custSel addSld delSld modSld">
      <pc:chgData name="Shubham Mishra" userId="9f7b4f520881ad8a" providerId="LiveId" clId="{59BA031D-80CB-4DB9-B929-70658A7DECF9}" dt="2026-05-14T08:58:10.254" v="659" actId="27636"/>
      <pc:docMkLst>
        <pc:docMk/>
      </pc:docMkLst>
      <pc:sldChg chg="addSp delSp modSp mod">
        <pc:chgData name="Shubham Mishra" userId="9f7b4f520881ad8a" providerId="LiveId" clId="{59BA031D-80CB-4DB9-B929-70658A7DECF9}" dt="2026-05-14T05:29:53.728" v="655" actId="113"/>
        <pc:sldMkLst>
          <pc:docMk/>
          <pc:sldMk cId="1486951216" sldId="288"/>
        </pc:sldMkLst>
        <pc:spChg chg="add mod">
          <ac:chgData name="Shubham Mishra" userId="9f7b4f520881ad8a" providerId="LiveId" clId="{59BA031D-80CB-4DB9-B929-70658A7DECF9}" dt="2026-05-14T05:29:53.728" v="655" actId="113"/>
          <ac:spMkLst>
            <pc:docMk/>
            <pc:sldMk cId="1486951216" sldId="288"/>
            <ac:spMk id="2" creationId="{C7BD1536-9D8F-F3AB-F418-59811BF3416C}"/>
          </ac:spMkLst>
        </pc:spChg>
      </pc:sldChg>
      <pc:sldChg chg="modSp mod">
        <pc:chgData name="Shubham Mishra" userId="9f7b4f520881ad8a" providerId="LiveId" clId="{59BA031D-80CB-4DB9-B929-70658A7DECF9}" dt="2026-05-14T08:58:10.254" v="659" actId="27636"/>
        <pc:sldMkLst>
          <pc:docMk/>
          <pc:sldMk cId="1093556016" sldId="289"/>
        </pc:sldMkLst>
        <pc:spChg chg="mod">
          <ac:chgData name="Shubham Mishra" userId="9f7b4f520881ad8a" providerId="LiveId" clId="{59BA031D-80CB-4DB9-B929-70658A7DECF9}" dt="2026-05-14T08:58:10.254" v="659" actId="27636"/>
          <ac:spMkLst>
            <pc:docMk/>
            <pc:sldMk cId="1093556016" sldId="289"/>
            <ac:spMk id="2" creationId="{AFB6C91D-4B22-49F1-9A0B-ABEB9E1F5A2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535"/>
                </a:solidFill>
                <a:latin typeface="Arial"/>
              </a:defRPr>
            </a:pPr>
            <a:r>
              <a:rPr lang="en-IN" sz="1000" b="0" i="0" u="none" strike="noStrike" dirty="0">
                <a:solidFill>
                  <a:srgbClr val="1A2535"/>
                </a:solidFill>
                <a:latin typeface="Arial"/>
              </a:rPr>
              <a:t>Campaign Revenue Comparison (Millon)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89A6-4CD8-B0CC-A9BA70935544}"/>
              </c:ext>
            </c:extLst>
          </c:dPt>
          <c:dPt>
            <c:idx val="1"/>
            <c:invertIfNegative val="0"/>
            <c:bubble3D val="0"/>
            <c:spPr>
              <a:solidFill>
                <a:srgbClr val="0A8A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89A6-4CD8-B0CC-A9BA7093554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43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9A6-4CD8-B0CC-A9BA7093554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23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9A6-4CD8-B0CC-A9BA7093554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535"/>
                    </a:solidFill>
                    <a:latin typeface="Arial"/>
                  </a:defRPr>
                </a:pPr>
                <a:endParaRPr lang="hi-I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Diwali 2023</c:v>
                </c:pt>
                <c:pt idx="1">
                  <c:v>Sankranti 2024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16.03</c:v>
                </c:pt>
                <c:pt idx="1">
                  <c:v>8.77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9A6-4CD8-B0CC-A9BA709355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2535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2535"/>
                </a:solidFill>
                <a:latin typeface="Arial"/>
              </a:rPr>
              <a:t>Revenue by City (</a:t>
            </a:r>
            <a:r>
              <a:rPr lang="hi-IN" sz="1100" b="0" i="0" u="none" strike="noStrike">
                <a:solidFill>
                  <a:srgbClr val="1A2535"/>
                </a:solidFill>
                <a:latin typeface="Arial"/>
              </a:rPr>
              <a:t>₹ </a:t>
            </a:r>
            <a:r>
              <a:rPr lang="en-US" sz="1100" b="0" i="0" u="none" strike="noStrike">
                <a:solidFill>
                  <a:srgbClr val="1A2535"/>
                </a:solidFill>
                <a:latin typeface="Arial"/>
              </a:rPr>
              <a:t>Lakh)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9DAE-4D49-9502-8378A0477D32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DAE-4D49-9502-8378A0477D32}"/>
              </c:ext>
            </c:extLst>
          </c:dPt>
          <c:dPt>
            <c:idx val="2"/>
            <c:invertIfNegative val="0"/>
            <c:bubble3D val="0"/>
            <c:spPr>
              <a:solidFill>
                <a:srgbClr val="0A8A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AE-4D49-9502-8378A0477D32}"/>
              </c:ext>
            </c:extLst>
          </c:dPt>
          <c:dPt>
            <c:idx val="3"/>
            <c:invertIfNegative val="0"/>
            <c:bubble3D val="0"/>
            <c:spPr>
              <a:solidFill>
                <a:srgbClr val="0A8A7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AE-4D49-9502-8378A0477D32}"/>
              </c:ext>
            </c:extLst>
          </c:dPt>
          <c:dPt>
            <c:idx val="4"/>
            <c:invertIfNegative val="0"/>
            <c:bubble3D val="0"/>
            <c:spPr>
              <a:solidFill>
                <a:srgbClr val="1E7E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DAE-4D49-9502-8378A0477D32}"/>
              </c:ext>
            </c:extLst>
          </c:dPt>
          <c:dPt>
            <c:idx val="5"/>
            <c:invertIfNegative val="0"/>
            <c:bubble3D val="0"/>
            <c:spPr>
              <a:solidFill>
                <a:srgbClr val="1E7E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DAE-4D49-9502-8378A0477D32}"/>
              </c:ext>
            </c:extLst>
          </c:dPt>
          <c:dPt>
            <c:idx val="6"/>
            <c:invertIfNegative val="0"/>
            <c:bubble3D val="0"/>
            <c:spPr>
              <a:solidFill>
                <a:srgbClr val="C45C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DAE-4D49-9502-8378A0477D32}"/>
              </c:ext>
            </c:extLst>
          </c:dPt>
          <c:dPt>
            <c:idx val="7"/>
            <c:invertIfNegative val="0"/>
            <c:bubble3D val="0"/>
            <c:spPr>
              <a:solidFill>
                <a:srgbClr val="C45C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DAE-4D49-9502-8378A0477D32}"/>
              </c:ext>
            </c:extLst>
          </c:dPt>
          <c:dPt>
            <c:idx val="8"/>
            <c:invertIfNegative val="0"/>
            <c:bubble3D val="0"/>
            <c:spPr>
              <a:solidFill>
                <a:srgbClr val="5C3A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DAE-4D49-9502-8378A0477D32}"/>
              </c:ext>
            </c:extLst>
          </c:dPt>
          <c:dPt>
            <c:idx val="9"/>
            <c:invertIfNegative val="0"/>
            <c:bubble3D val="0"/>
            <c:spPr>
              <a:solidFill>
                <a:srgbClr val="5C3A9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DAE-4D49-9502-8378A0477D3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535"/>
                    </a:solidFill>
                    <a:latin typeface="Arial"/>
                  </a:defRPr>
                </a:pPr>
                <a:endParaRPr lang="hi-I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Bengaluru</c:v>
                </c:pt>
                <c:pt idx="1">
                  <c:v>Chennai</c:v>
                </c:pt>
                <c:pt idx="2">
                  <c:v>Hyderabad</c:v>
                </c:pt>
                <c:pt idx="3">
                  <c:v>Mysuru</c:v>
                </c:pt>
                <c:pt idx="4">
                  <c:v>Coimbatore</c:v>
                </c:pt>
                <c:pt idx="5">
                  <c:v>Madurai</c:v>
                </c:pt>
                <c:pt idx="6">
                  <c:v>Visakhapatnam</c:v>
                </c:pt>
                <c:pt idx="7">
                  <c:v>Mangalore</c:v>
                </c:pt>
                <c:pt idx="8">
                  <c:v>Vijayawada</c:v>
                </c:pt>
                <c:pt idx="9">
                  <c:v>Trivandrum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596.9</c:v>
                </c:pt>
                <c:pt idx="1">
                  <c:v>474.5</c:v>
                </c:pt>
                <c:pt idx="2">
                  <c:v>379.2</c:v>
                </c:pt>
                <c:pt idx="3">
                  <c:v>230.2</c:v>
                </c:pt>
                <c:pt idx="4">
                  <c:v>215.5</c:v>
                </c:pt>
                <c:pt idx="5">
                  <c:v>193</c:v>
                </c:pt>
                <c:pt idx="6">
                  <c:v>186.7</c:v>
                </c:pt>
                <c:pt idx="7">
                  <c:v>84</c:v>
                </c:pt>
                <c:pt idx="8">
                  <c:v>64.400000000000006</c:v>
                </c:pt>
                <c:pt idx="9">
                  <c:v>55.5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9DAE-4D49-9502-8378A0477D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6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6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3D6640C-F6A0-4351-856B-14836F234E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280B7B-2795-4857-B84E-9C600536AE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20AE1-5DBC-4417-A73B-5F29B67C532C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3ACD6-6E00-4BE1-A684-34A6BD202E3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F20A5-CEF2-4B11-A0A4-0F4BC0BD64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22411-A9A9-4A09-A341-69C657AB42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888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16A9CD-5E57-4C86-B862-09CA519924BA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A004F4-F240-48F9-8AE1-486585C7F00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881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17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4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868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485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93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61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1929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6456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1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9800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0437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99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293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A004F4-F240-48F9-8AE1-486585C7F00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3866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D165-49B0-44FF-A267-367F5A6EE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9514"/>
            <a:ext cx="9144000" cy="2128049"/>
          </a:xfrm>
        </p:spPr>
        <p:txBody>
          <a:bodyPr anchor="b"/>
          <a:lstStyle>
            <a:lvl1pPr algn="ctr">
              <a:lnSpc>
                <a:spcPct val="125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52800-74D6-4A78-AC9B-8E737A1A3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1162"/>
            <a:ext cx="9144000" cy="882001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500" b="1" i="1" kern="1200" spc="65" dirty="0">
                <a:solidFill>
                  <a:schemeClr val="accent1"/>
                </a:solidFill>
                <a:latin typeface="Arial"/>
                <a:ea typeface="+mn-ea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91F7B-C4AF-4FC6-A6BE-657DEF6D5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08ED5-AEFE-4443-9040-726EF6690995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32F8-B0C7-4332-B0A5-BC19DD8C4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30946-D0C7-4F78-94B0-427DAA6D5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50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1141-A77D-4E0E-8CAF-4CD3B279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EFDE0-5A54-402A-B0C3-6BC0BB73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25AD-4585-4E37-A076-3D0070C93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2561F-7E45-400C-8758-912CDFE9410A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64AD-EDC3-4B13-8CD6-49EB60099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0FD1E-16F6-49B1-A938-8CE601ED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465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FA988-92AD-48D7-890A-AA0540961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A999FA-A189-41DB-9CFC-D1356C534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D83DC-20E7-4B71-9794-36FC33B1B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24BC7-4CDB-41D7-81AF-9CE8473FF4B8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D103-1290-4592-B37C-19C9C9DBE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55B1B-4A5C-42C7-99A5-B8217736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0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387105-2538-4216-9A7E-445FA092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36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6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89EF5-3FD9-4423-A9E8-B67B4E902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0D7191-31B4-440E-A4E9-F412FA558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4379E-9B58-41EA-B928-5B1C8436A60E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C85CB6-0880-4BF0-8E98-291E70C7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A5E74-F26F-4C7A-BED1-6EE66C0B3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9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5C546-684A-45B9-8890-66DC55DF7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0A371-51FE-4D99-BD87-6A650FCE519D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3EBDF-D696-42F7-B962-56F5FEE12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9D77E-1675-4F9D-9113-B274CB0E8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4602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9C90-06AB-49B5-9970-F5791DE9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B0071-932D-4CA0-92FB-A6E75AC8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8D9F5-8B70-4BDD-9CB5-BBF87CF55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9DE91-7A80-4682-9D32-2CD41DEFB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F8CFF-A1C0-4B6C-AA8D-BE72CB14468D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2482-2E7D-4868-95A7-4A55B40FE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E84CF-C3E5-4475-84C7-21CBAC06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625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443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Horisont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E4FD2CFF-0F3D-42BB-BBFF-903727B32640}"/>
              </a:ext>
            </a:extLst>
          </p:cNvPr>
          <p:cNvSpPr/>
          <p:nvPr userDrawn="1"/>
        </p:nvSpPr>
        <p:spPr>
          <a:xfrm>
            <a:off x="0" y="1562188"/>
            <a:ext cx="11269980" cy="2359660"/>
          </a:xfrm>
          <a:custGeom>
            <a:avLst/>
            <a:gdLst/>
            <a:ahLst/>
            <a:cxnLst/>
            <a:rect l="l" t="t" r="r" b="b"/>
            <a:pathLst>
              <a:path w="11269980" h="2359660">
                <a:moveTo>
                  <a:pt x="0" y="2359152"/>
                </a:moveTo>
                <a:lnTo>
                  <a:pt x="11269980" y="2359152"/>
                </a:lnTo>
                <a:lnTo>
                  <a:pt x="11269980" y="0"/>
                </a:lnTo>
                <a:lnTo>
                  <a:pt x="0" y="0"/>
                </a:lnTo>
                <a:lnTo>
                  <a:pt x="0" y="2359152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7ABC-6745-43B6-8A64-6E191BD65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133087"/>
            <a:ext cx="10431780" cy="2043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C1B0D46C-2987-401A-A0C4-CFB6F73E9D2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4296" y="1788579"/>
            <a:ext cx="10425684" cy="19068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19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52419" y="188780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44273" y="1883115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4273" y="3573118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1552418" y="3575461"/>
            <a:ext cx="4057961" cy="14312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44273" y="5263121"/>
            <a:ext cx="576000" cy="576000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1552418" y="5263122"/>
            <a:ext cx="4057961" cy="77572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80610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B74348DE-EC54-4C62-948C-0B2BF90455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15389"/>
            <a:ext cx="12188825" cy="3742611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2A53E879-94A1-4659-9069-ED0D6F03014D}"/>
              </a:ext>
            </a:extLst>
          </p:cNvPr>
          <p:cNvSpPr/>
          <p:nvPr userDrawn="1"/>
        </p:nvSpPr>
        <p:spPr>
          <a:xfrm>
            <a:off x="2400" y="1999821"/>
            <a:ext cx="12189600" cy="1115568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43C73-1D0F-45F9-A7E4-E9D24EAFD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8E76-F6AB-4621-A9A6-20A81C5A3F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859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3FB9-6D6C-4F61-9E7A-76E686D06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434047"/>
            <a:ext cx="5157787" cy="275561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93A737-E48B-4909-BE04-F55B581032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859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F9958C-DB5F-444E-ACE8-73F5E0CA6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434047"/>
            <a:ext cx="5183188" cy="2755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D097D1-3052-4C1F-B573-CA25FFF6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CD8C-7FEF-4E71-8EB9-D3BA6E2E3E9E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07AC3-2220-4DDA-A22A-C404538F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8DEB3-F122-4B42-9E12-F61189B8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576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0EB58-EF7E-435A-8B07-B5BCF3AF1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76098-6FA1-470A-BEF4-E4B0AC75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57DE0-C032-4FCC-9006-09C2C328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CD216-73DE-4B96-8E1B-BB64D86142BB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776CB-2819-4488-9012-A6EA22079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15EEB49-54F4-404C-9B31-AD488BFCB2E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2412" y="2219248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1">
            <a:extLst>
              <a:ext uri="{FF2B5EF4-FFF2-40B4-BE49-F238E27FC236}">
                <a16:creationId xmlns:a16="http://schemas.microsoft.com/office/drawing/2014/main" id="{6B2DD458-866A-421E-9AD0-B0D9E119572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005572" y="2196083"/>
            <a:ext cx="2414016" cy="2414016"/>
          </a:xfrm>
          <a:prstGeom prst="ellipse">
            <a:avLst/>
          </a:prstGeom>
          <a:noFill/>
          <a:ln w="387350">
            <a:noFill/>
          </a:ln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57A4D097-9603-42DC-888D-8039CE6ADC9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87240" y="2019165"/>
            <a:ext cx="3017520" cy="3017520"/>
          </a:xfrm>
          <a:prstGeom prst="ellipse">
            <a:avLst/>
          </a:prstGeom>
          <a:noFill/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B9B9E0BA-35AD-4D69-9A03-35F2509C2C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12900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B1CC61B3-695C-423D-8F0B-45674DC932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745831" y="5236700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B870F23E-35A1-4942-A685-641AA8830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878762" y="5033963"/>
            <a:ext cx="2700338" cy="73818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9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863B8202-88BB-4ED4-B936-9D9C0B4C8D1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808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29F16048-FF4E-41B1-B3D4-0FB210A70DF2}"/>
              </a:ext>
            </a:extLst>
          </p:cNvPr>
          <p:cNvSpPr/>
          <p:nvPr userDrawn="1"/>
        </p:nvSpPr>
        <p:spPr>
          <a:xfrm>
            <a:off x="5294630" y="0"/>
            <a:ext cx="6897370" cy="6858000"/>
          </a:xfrm>
          <a:custGeom>
            <a:avLst/>
            <a:gdLst/>
            <a:ahLst/>
            <a:cxnLst/>
            <a:rect l="l" t="t" r="r" b="b"/>
            <a:pathLst>
              <a:path w="6897370" h="6858000">
                <a:moveTo>
                  <a:pt x="0" y="6858000"/>
                </a:moveTo>
                <a:lnTo>
                  <a:pt x="6896900" y="6858000"/>
                </a:lnTo>
                <a:lnTo>
                  <a:pt x="68969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8AB8B54-69CD-4C57-8DBB-02A0E09851DD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90E0AA-5363-4861-AB6B-0E4D34D74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17362"/>
            <a:ext cx="3932237" cy="130211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9774D-36EB-4201-B1AC-922DD2E066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94251" y="119269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1E234-1CB2-41A0-B40D-7E7F160C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D634D-0427-413D-A0D0-098959D06FEF}" type="datetime1">
              <a:rPr lang="en-US" smtClean="0"/>
              <a:t>5/14/2026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FD472E-6334-4051-B4D9-6361A819F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384B9-6290-4070-B7D1-A105B27F0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9337951D-6DB6-4713-9200-E8513CDEB6B3}"/>
              </a:ext>
            </a:extLst>
          </p:cNvPr>
          <p:cNvSpPr/>
          <p:nvPr userDrawn="1"/>
        </p:nvSpPr>
        <p:spPr>
          <a:xfrm>
            <a:off x="0" y="2430411"/>
            <a:ext cx="3625850" cy="3438525"/>
          </a:xfrm>
          <a:custGeom>
            <a:avLst/>
            <a:gdLst/>
            <a:ahLst/>
            <a:cxnLst/>
            <a:rect l="l" t="t" r="r" b="b"/>
            <a:pathLst>
              <a:path w="3625850" h="3438525">
                <a:moveTo>
                  <a:pt x="0" y="3438486"/>
                </a:moveTo>
                <a:lnTo>
                  <a:pt x="3625596" y="3438486"/>
                </a:lnTo>
                <a:lnTo>
                  <a:pt x="3625596" y="0"/>
                </a:lnTo>
                <a:lnTo>
                  <a:pt x="0" y="0"/>
                </a:lnTo>
                <a:lnTo>
                  <a:pt x="0" y="3438486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44B7CE-2038-4CCA-AA8A-D03DE5FD9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781223"/>
            <a:ext cx="6040800" cy="273690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28">
            <a:extLst>
              <a:ext uri="{FF2B5EF4-FFF2-40B4-BE49-F238E27FC236}">
                <a16:creationId xmlns:a16="http://schemas.microsoft.com/office/drawing/2014/main" id="{2EB2F967-97B6-4CA8-B3E7-5FF7CA2BDD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586106" y="1188012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8">
            <a:extLst>
              <a:ext uri="{FF2B5EF4-FFF2-40B4-BE49-F238E27FC236}">
                <a16:creationId xmlns:a16="http://schemas.microsoft.com/office/drawing/2014/main" id="{5E78E133-FE09-456A-8463-9EFAC6ADE26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86106" y="2878015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F0C3496-EA4B-43E5-9704-968F80A8552C}"/>
              </a:ext>
            </a:extLst>
          </p:cNvPr>
          <p:cNvSpPr>
            <a:spLocks noGrp="1"/>
          </p:cNvSpPr>
          <p:nvPr>
            <p:ph type="body" sz="half" idx="23"/>
          </p:nvPr>
        </p:nvSpPr>
        <p:spPr>
          <a:xfrm>
            <a:off x="7294250" y="2880357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28">
            <a:extLst>
              <a:ext uri="{FF2B5EF4-FFF2-40B4-BE49-F238E27FC236}">
                <a16:creationId xmlns:a16="http://schemas.microsoft.com/office/drawing/2014/main" id="{13414E14-9FEB-40F8-AE6E-319637A8F1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86106" y="4568018"/>
            <a:ext cx="376237" cy="376237"/>
          </a:xfrm>
        </p:spPr>
        <p:txBody>
          <a:bodyPr>
            <a:norm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EC97C88-8B4C-4665-845B-95CE8F237779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7294250" y="4568018"/>
            <a:ext cx="4057961" cy="1431234"/>
          </a:xfrm>
        </p:spPr>
        <p:txBody>
          <a:bodyPr/>
          <a:lstStyle>
            <a:lvl1pPr marL="0" indent="0">
              <a:buNone/>
              <a:defRPr sz="16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490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CEC732-0DE2-456B-92A1-84321C9B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16A5B-B156-4DC3-B18E-14F3E59A6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0252E-67CD-4B33-849F-7B1449CF2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749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591E0-5367-4F2F-9C30-2087D79A846D}" type="datetime1">
              <a:rPr lang="en-US" noProof="0" smtClean="0"/>
              <a:t>5/14/2026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0AD2-E3F8-48CB-8B72-B0945DF534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7490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A5F3BCF-F6FD-4DFF-B0B4-9892C9389344}"/>
              </a:ext>
            </a:extLst>
          </p:cNvPr>
          <p:cNvSpPr/>
          <p:nvPr userDrawn="1"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DEFFD-817B-43EC-86F0-34DEA2BA5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844" y="6174902"/>
            <a:ext cx="3571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1">
                <a:solidFill>
                  <a:schemeClr val="tx2">
                    <a:alpha val="70000"/>
                  </a:schemeClr>
                </a:solidFill>
              </a:defRPr>
            </a:lvl1pPr>
          </a:lstStyle>
          <a:p>
            <a:fld id="{82EE24B5-652C-4DB5-B7C3-B5BBEC1280B1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4101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 descr="Blue rectangle">
            <a:extLst>
              <a:ext uri="{FF2B5EF4-FFF2-40B4-BE49-F238E27FC236}">
                <a16:creationId xmlns:a16="http://schemas.microsoft.com/office/drawing/2014/main" id="{482BBC39-5D4C-4E24-ADB1-5FFFBA7198D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3"/>
            <a:srcRect/>
            <a:stretch>
              <a:fillRect l="-12" r="-12"/>
            </a:stretch>
          </a:blip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0CA2E80D-F3EC-4A5F-8E65-56FEA206EE0F}"/>
              </a:ext>
            </a:extLst>
          </p:cNvPr>
          <p:cNvSpPr/>
          <p:nvPr/>
        </p:nvSpPr>
        <p:spPr>
          <a:xfrm>
            <a:off x="-508" y="0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9999"/>
            </a:schemeClr>
          </a:solidFill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6C91D-4B22-49F1-9A0B-ABEB9E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8518"/>
            <a:ext cx="9144000" cy="2128049"/>
          </a:xfrm>
        </p:spPr>
        <p:txBody>
          <a:bodyPr>
            <a:normAutofit/>
          </a:bodyPr>
          <a:lstStyle/>
          <a:p>
            <a:r>
              <a:rPr lang="en-US" sz="5000" dirty="0">
                <a:latin typeface="Gill Sans MT" panose="020B0502020104020203" pitchFamily="34" charset="0"/>
              </a:rPr>
              <a:t> ATLIQ MART Sales Performance Dashboard</a:t>
            </a:r>
            <a:endParaRPr lang="en-US" sz="5000" dirty="0">
              <a:solidFill>
                <a:schemeClr val="bg1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8CF06A-B594-4BA2-8B1E-D649096D7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0030968" y="7699247"/>
            <a:ext cx="2889504" cy="45720"/>
          </a:xfrm>
          <a:solidFill>
            <a:schemeClr val="accent2">
              <a:alpha val="90000"/>
            </a:schemeClr>
          </a:solidFill>
        </p:spPr>
        <p:txBody>
          <a:bodyPr anchor="ctr" anchorCtr="0">
            <a:normAutofit fontScale="25000" lnSpcReduction="20000"/>
          </a:bodyPr>
          <a:lstStyle/>
          <a:p>
            <a:endParaRPr lang="en-US" sz="2500" b="1" i="1" spc="65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6" name="object 7" descr="Beige rectangle">
            <a:extLst>
              <a:ext uri="{FF2B5EF4-FFF2-40B4-BE49-F238E27FC236}">
                <a16:creationId xmlns:a16="http://schemas.microsoft.com/office/drawing/2014/main" id="{B36975AA-C62E-46BE-9382-E2CF56FDF817}"/>
              </a:ext>
            </a:extLst>
          </p:cNvPr>
          <p:cNvSpPr/>
          <p:nvPr/>
        </p:nvSpPr>
        <p:spPr>
          <a:xfrm>
            <a:off x="3108000" y="3229869"/>
            <a:ext cx="5976000" cy="0"/>
          </a:xfrm>
          <a:custGeom>
            <a:avLst/>
            <a:gdLst/>
            <a:ahLst/>
            <a:cxnLst/>
            <a:rect l="l" t="t" r="r" b="b"/>
            <a:pathLst>
              <a:path w="3935729">
                <a:moveTo>
                  <a:pt x="0" y="0"/>
                </a:moveTo>
                <a:lnTo>
                  <a:pt x="3935349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556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AFBE0CE-FA83-96FD-A4A0-0AF2DBE54701}"/>
              </a:ext>
            </a:extLst>
          </p:cNvPr>
          <p:cNvSpPr/>
          <p:nvPr/>
        </p:nvSpPr>
        <p:spPr>
          <a:xfrm>
            <a:off x="156972" y="206693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 sz="3200" b="1" dirty="0">
              <a:solidFill>
                <a:schemeClr val="tx1"/>
              </a:solidFill>
              <a:latin typeface="Century Schoolbook" panose="02040604050505020304" pitchFamily="18" charset="0"/>
              <a:ea typeface="+mj-ea"/>
              <a:cs typeface="+mj-cs"/>
            </a:endParaRPr>
          </a:p>
        </p:txBody>
      </p:sp>
      <p:sp>
        <p:nvSpPr>
          <p:cNvPr id="5" name="object 3" descr="Beige rectangle">
            <a:extLst>
              <a:ext uri="{FF2B5EF4-FFF2-40B4-BE49-F238E27FC236}">
                <a16:creationId xmlns:a16="http://schemas.microsoft.com/office/drawing/2014/main" id="{DCF29767-6635-4A46-AB77-672CC90C6FBE}"/>
              </a:ext>
            </a:extLst>
          </p:cNvPr>
          <p:cNvSpPr/>
          <p:nvPr/>
        </p:nvSpPr>
        <p:spPr>
          <a:xfrm>
            <a:off x="6674258" y="1505305"/>
            <a:ext cx="4199562" cy="4194074"/>
          </a:xfrm>
          <a:custGeom>
            <a:avLst/>
            <a:gdLst/>
            <a:ahLst/>
            <a:cxnLst/>
            <a:rect l="l" t="t" r="r" b="b"/>
            <a:pathLst>
              <a:path w="4010659" h="333375">
                <a:moveTo>
                  <a:pt x="0" y="333006"/>
                </a:moveTo>
                <a:lnTo>
                  <a:pt x="4010367" y="333006"/>
                </a:lnTo>
                <a:lnTo>
                  <a:pt x="4010367" y="0"/>
                </a:lnTo>
                <a:lnTo>
                  <a:pt x="0" y="0"/>
                </a:lnTo>
                <a:lnTo>
                  <a:pt x="0" y="333006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txBody>
          <a:bodyPr wrap="square" lIns="0" tIns="0" rIns="0" bIns="0" rtlCol="0"/>
          <a:lstStyle/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Analyze the impact of promotional campaigns on product sales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Identify the most effective promotion types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Evaluate campaign performance across cities and stores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Determine top-selling products and categories during promotions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object 6" descr="Blue rectangle">
            <a:extLst>
              <a:ext uri="{FF2B5EF4-FFF2-40B4-BE49-F238E27FC236}">
                <a16:creationId xmlns:a16="http://schemas.microsoft.com/office/drawing/2014/main" id="{9FABC344-E043-45BE-8588-06C658DBCE70}"/>
              </a:ext>
            </a:extLst>
          </p:cNvPr>
          <p:cNvSpPr/>
          <p:nvPr/>
        </p:nvSpPr>
        <p:spPr>
          <a:xfrm>
            <a:off x="1358752" y="1505305"/>
            <a:ext cx="4338471" cy="4194074"/>
          </a:xfrm>
          <a:custGeom>
            <a:avLst/>
            <a:gdLst/>
            <a:ahLst/>
            <a:cxnLst/>
            <a:rect l="l" t="t" r="r" b="b"/>
            <a:pathLst>
              <a:path w="6689725" h="3528060">
                <a:moveTo>
                  <a:pt x="0" y="3527996"/>
                </a:moveTo>
                <a:lnTo>
                  <a:pt x="6689648" y="3527996"/>
                </a:lnTo>
                <a:lnTo>
                  <a:pt x="6689648" y="0"/>
                </a:lnTo>
                <a:lnTo>
                  <a:pt x="0" y="0"/>
                </a:lnTo>
                <a:lnTo>
                  <a:pt x="0" y="35279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bg1"/>
                </a:solidFill>
              </a:rPr>
              <a:t>A retail company runs promotional     </a:t>
            </a:r>
          </a:p>
          <a:p>
            <a:r>
              <a:rPr lang="en-US" dirty="0">
                <a:solidFill>
                  <a:schemeClr val="bg1"/>
                </a:solidFill>
              </a:rPr>
              <a:t>   campaigns like Diwali and Sankranti to  </a:t>
            </a:r>
          </a:p>
          <a:p>
            <a:r>
              <a:rPr lang="en-US" dirty="0">
                <a:solidFill>
                  <a:schemeClr val="bg1"/>
                </a:solidFill>
              </a:rPr>
              <a:t>   boost product sales, and this dataset     </a:t>
            </a:r>
          </a:p>
          <a:p>
            <a:r>
              <a:rPr lang="en-US" dirty="0">
                <a:solidFill>
                  <a:schemeClr val="bg1"/>
                </a:solidFill>
              </a:rPr>
              <a:t>   tracks product sales before and after  </a:t>
            </a:r>
          </a:p>
          <a:p>
            <a:r>
              <a:rPr lang="en-US" dirty="0">
                <a:solidFill>
                  <a:schemeClr val="bg1"/>
                </a:solidFill>
              </a:rPr>
              <a:t>   promotions across multiple stores and  </a:t>
            </a:r>
          </a:p>
          <a:p>
            <a:r>
              <a:rPr lang="en-US" dirty="0">
                <a:solidFill>
                  <a:schemeClr val="bg1"/>
                </a:solidFill>
              </a:rPr>
              <a:t>   cities</a:t>
            </a: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C5720-51D4-4632-91CD-936B8AB96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936" y="100584"/>
            <a:ext cx="8293608" cy="11795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Century Schoolbook" panose="02040604050505020304" pitchFamily="18" charset="0"/>
              </a:rPr>
              <a:t>BUSINESS CONTEXT &amp; 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506CC-0185-443E-82C7-1600C21D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215348" y="6302918"/>
            <a:ext cx="35711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object 9" descr="Beige rectangle">
            <a:extLst>
              <a:ext uri="{FF2B5EF4-FFF2-40B4-BE49-F238E27FC236}">
                <a16:creationId xmlns:a16="http://schemas.microsoft.com/office/drawing/2014/main" id="{02C6628C-972C-4717-AAF3-D882B30F6658}"/>
              </a:ext>
            </a:extLst>
          </p:cNvPr>
          <p:cNvSpPr/>
          <p:nvPr/>
        </p:nvSpPr>
        <p:spPr>
          <a:xfrm flipV="1">
            <a:off x="3381505" y="840995"/>
            <a:ext cx="4631436" cy="45719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7A818AB-B120-41D5-88A6-933AB9CAAE68}"/>
              </a:ext>
            </a:extLst>
          </p:cNvPr>
          <p:cNvSpPr txBox="1">
            <a:spLocks/>
          </p:cNvSpPr>
          <p:nvPr/>
        </p:nvSpPr>
        <p:spPr>
          <a:xfrm>
            <a:off x="6188242" y="3217631"/>
            <a:ext cx="5181600" cy="16033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800" i="1" spc="-25" dirty="0">
              <a:solidFill>
                <a:schemeClr val="bg2">
                  <a:lumMod val="20000"/>
                  <a:lumOff val="8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B48C78-95FB-E744-CACD-4F41F53A488D}"/>
              </a:ext>
            </a:extLst>
          </p:cNvPr>
          <p:cNvSpPr/>
          <p:nvPr/>
        </p:nvSpPr>
        <p:spPr>
          <a:xfrm>
            <a:off x="1358752" y="1505305"/>
            <a:ext cx="4338471" cy="6892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Context</a:t>
            </a:r>
            <a:endParaRPr lang="hi-IN" sz="3600" b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E1E69D-F4E2-ED2A-7CA5-D9A76B87A867}"/>
              </a:ext>
            </a:extLst>
          </p:cNvPr>
          <p:cNvSpPr/>
          <p:nvPr/>
        </p:nvSpPr>
        <p:spPr>
          <a:xfrm>
            <a:off x="6674258" y="1505304"/>
            <a:ext cx="4199562" cy="68925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Objective</a:t>
            </a:r>
            <a:endParaRPr lang="hi-IN" sz="3600" b="1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B271979-E043-7F01-9F90-47839DF22596}"/>
              </a:ext>
            </a:extLst>
          </p:cNvPr>
          <p:cNvSpPr/>
          <p:nvPr/>
        </p:nvSpPr>
        <p:spPr>
          <a:xfrm>
            <a:off x="11013528" y="5827430"/>
            <a:ext cx="1134356" cy="9692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793949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 descr="Beige oval">
            <a:extLst>
              <a:ext uri="{FF2B5EF4-FFF2-40B4-BE49-F238E27FC236}">
                <a16:creationId xmlns:a16="http://schemas.microsoft.com/office/drawing/2014/main" id="{1191A09B-8CB4-416A-B1F9-ABC3B476DE1F}"/>
              </a:ext>
            </a:extLst>
          </p:cNvPr>
          <p:cNvSpPr/>
          <p:nvPr/>
        </p:nvSpPr>
        <p:spPr>
          <a:xfrm>
            <a:off x="11562237" y="6227432"/>
            <a:ext cx="266400" cy="266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D00B79-44BB-4D5F-B51D-2270A854D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16" y="329956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INDUSTRY OUTLOOK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3C1EE-D9A0-406A-9A3A-75C82527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7EF2F5-90AA-04CD-C468-45B7C6E07072}"/>
              </a:ext>
            </a:extLst>
          </p:cNvPr>
          <p:cNvSpPr/>
          <p:nvPr/>
        </p:nvSpPr>
        <p:spPr>
          <a:xfrm>
            <a:off x="146304" y="329956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Problem</a:t>
            </a:r>
            <a:r>
              <a:rPr lang="en-US" dirty="0"/>
              <a:t> 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Statement</a:t>
            </a:r>
            <a:endParaRPr lang="hi-IN" sz="3200" b="1" dirty="0">
              <a:solidFill>
                <a:schemeClr val="tx1"/>
              </a:solidFill>
              <a:latin typeface="Century Schoolbook" panose="02040604050505020304" pitchFamily="18" charset="0"/>
              <a:ea typeface="+mj-ea"/>
              <a:cs typeface="+mj-cs"/>
            </a:endParaRPr>
          </a:p>
        </p:txBody>
      </p:sp>
      <p:sp>
        <p:nvSpPr>
          <p:cNvPr id="4" name="object 9" descr="Beige rectangle">
            <a:extLst>
              <a:ext uri="{FF2B5EF4-FFF2-40B4-BE49-F238E27FC236}">
                <a16:creationId xmlns:a16="http://schemas.microsoft.com/office/drawing/2014/main" id="{8F4B1A17-745C-D68F-9151-442EBF5A0CA5}"/>
              </a:ext>
            </a:extLst>
          </p:cNvPr>
          <p:cNvSpPr/>
          <p:nvPr/>
        </p:nvSpPr>
        <p:spPr>
          <a:xfrm>
            <a:off x="4023359" y="960119"/>
            <a:ext cx="3989581" cy="45719"/>
          </a:xfrm>
          <a:custGeom>
            <a:avLst/>
            <a:gdLst/>
            <a:ahLst/>
            <a:cxnLst/>
            <a:rect l="l" t="t" r="r" b="b"/>
            <a:pathLst>
              <a:path w="2642870">
                <a:moveTo>
                  <a:pt x="0" y="0"/>
                </a:moveTo>
                <a:lnTo>
                  <a:pt x="2642616" y="0"/>
                </a:lnTo>
              </a:path>
            </a:pathLst>
          </a:custGeom>
          <a:ln w="54863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B04E1-CFFA-375B-C468-C61372E4CE4F}"/>
              </a:ext>
            </a:extLst>
          </p:cNvPr>
          <p:cNvSpPr/>
          <p:nvPr/>
        </p:nvSpPr>
        <p:spPr>
          <a:xfrm>
            <a:off x="920369" y="1362867"/>
            <a:ext cx="10195560" cy="48120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company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runs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promotional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campaigns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to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increase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product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sales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hi-IN" altLang="hi-I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Different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discount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strategies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are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used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across</a:t>
            </a:r>
            <a:r>
              <a:rPr lang="en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products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stores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hi-IN" altLang="hi-I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company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does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not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know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which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promotion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performs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best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hi-IN" altLang="hi-I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Sales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performance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varies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dirty="0" err="1">
                <a:solidFill>
                  <a:schemeClr val="tx1"/>
                </a:solidFill>
                <a:latin typeface="Arial" panose="020B0604020202020204" pitchFamily="34" charset="0"/>
              </a:rPr>
              <a:t>across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cities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product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categories</a:t>
            </a:r>
            <a:r>
              <a:rPr lang="hi-IN" altLang="hi-IN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hi-IN" sz="20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i-IN" altLang="hi-IN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FC203DF-754B-900D-D277-B770E1355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i-IN" altLang="hi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1DC37271-5DF2-05CB-7119-C21B0C3F7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i-IN" altLang="hi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5102F1-C410-A0B8-7559-A0D0F01B5784}"/>
              </a:ext>
            </a:extLst>
          </p:cNvPr>
          <p:cNvSpPr/>
          <p:nvPr/>
        </p:nvSpPr>
        <p:spPr>
          <a:xfrm>
            <a:off x="11468844" y="6174902"/>
            <a:ext cx="619524" cy="463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2263215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9481D03-E7FD-7D21-2371-C122D92A6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flipH="1" flipV="1">
            <a:off x="12554712" y="7196328"/>
            <a:ext cx="292608" cy="502920"/>
          </a:xfrm>
        </p:spPr>
        <p:txBody>
          <a:bodyPr/>
          <a:lstStyle/>
          <a:p>
            <a:pPr marL="0" indent="0">
              <a:buNone/>
            </a:pPr>
            <a:endParaRPr lang="hi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7247D-75C5-48D5-6F71-2293D02696B9}"/>
              </a:ext>
            </a:extLst>
          </p:cNvPr>
          <p:cNvSpPr/>
          <p:nvPr/>
        </p:nvSpPr>
        <p:spPr>
          <a:xfrm>
            <a:off x="-128016" y="-164592"/>
            <a:ext cx="13094208" cy="7982712"/>
          </a:xfrm>
          <a:prstGeom prst="rect">
            <a:avLst/>
          </a:prstGeom>
          <a:solidFill>
            <a:schemeClr val="bg1"/>
          </a:solidFill>
          <a:ln>
            <a:solidFill>
              <a:srgbClr val="009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E604C9-C717-E8BD-1F02-7AA90A15D37D}"/>
              </a:ext>
            </a:extLst>
          </p:cNvPr>
          <p:cNvSpPr/>
          <p:nvPr/>
        </p:nvSpPr>
        <p:spPr>
          <a:xfrm>
            <a:off x="156972" y="101356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Stakeholders</a:t>
            </a:r>
            <a:endParaRPr lang="hi-IN" sz="3200" b="1" dirty="0">
              <a:solidFill>
                <a:schemeClr val="tx1"/>
              </a:solidFill>
              <a:latin typeface="Century Schoolbook" panose="02040604050505020304" pitchFamily="18" charset="0"/>
              <a:ea typeface="+mj-ea"/>
              <a:cs typeface="+mj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8BB120-38CD-091D-8751-F9E4D1D29477}"/>
              </a:ext>
            </a:extLst>
          </p:cNvPr>
          <p:cNvSpPr/>
          <p:nvPr/>
        </p:nvSpPr>
        <p:spPr>
          <a:xfrm>
            <a:off x="512064" y="1453896"/>
            <a:ext cx="3575304" cy="2286000"/>
          </a:xfrm>
          <a:prstGeom prst="rect">
            <a:avLst/>
          </a:prstGeom>
          <a:solidFill>
            <a:schemeClr val="bg1"/>
          </a:solidFill>
          <a:ln>
            <a:solidFill>
              <a:srgbClr val="009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hi-IN" sz="1600" b="1" dirty="0">
                <a:solidFill>
                  <a:schemeClr val="tx1"/>
                </a:solidFill>
                <a:latin typeface="Arial" panose="020B0604020202020204" pitchFamily="34" charset="0"/>
              </a:rPr>
              <a:t>Responsible for product in stores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hi-I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hi-IN" sz="1600" b="1" dirty="0">
                <a:solidFill>
                  <a:schemeClr val="tx1"/>
                </a:solidFill>
                <a:latin typeface="Arial" panose="020B0604020202020204" pitchFamily="34" charset="0"/>
              </a:rPr>
              <a:t>Uses insights to improve store performance</a:t>
            </a:r>
            <a:endParaRPr lang="hi-IN" altLang="hi-I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93FC6A-83D3-A309-9059-DC53BD7A5DB2}"/>
              </a:ext>
            </a:extLst>
          </p:cNvPr>
          <p:cNvSpPr/>
          <p:nvPr/>
        </p:nvSpPr>
        <p:spPr>
          <a:xfrm>
            <a:off x="4529330" y="1453896"/>
            <a:ext cx="3575304" cy="2286000"/>
          </a:xfrm>
          <a:prstGeom prst="rect">
            <a:avLst/>
          </a:prstGeom>
          <a:solidFill>
            <a:schemeClr val="bg1"/>
          </a:solidFill>
          <a:ln>
            <a:solidFill>
              <a:srgbClr val="009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Plans promotional campaigns like Diwali and Sankranti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Uses analysis to understand which promotion works best</a:t>
            </a:r>
            <a:endParaRPr lang="hi-IN" sz="1600" b="1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D853483-7DFC-6EDC-49C9-B03C3B59663F}"/>
              </a:ext>
            </a:extLst>
          </p:cNvPr>
          <p:cNvSpPr/>
          <p:nvPr/>
        </p:nvSpPr>
        <p:spPr>
          <a:xfrm>
            <a:off x="8372857" y="1388364"/>
            <a:ext cx="3575304" cy="2286000"/>
          </a:xfrm>
          <a:prstGeom prst="rect">
            <a:avLst/>
          </a:prstGeom>
          <a:solidFill>
            <a:schemeClr val="bg1"/>
          </a:solidFill>
          <a:ln>
            <a:solidFill>
              <a:srgbClr val="009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Makes decisions about future campaigns and pricing strategy</a:t>
            </a:r>
          </a:p>
          <a:p>
            <a:pPr algn="ctr"/>
            <a:endParaRPr lang="hi-IN" sz="1600" b="1" dirty="0">
              <a:solidFill>
                <a:schemeClr val="tx1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8E69C8-990A-9180-456F-47411BA49070}"/>
              </a:ext>
            </a:extLst>
          </p:cNvPr>
          <p:cNvSpPr/>
          <p:nvPr/>
        </p:nvSpPr>
        <p:spPr>
          <a:xfrm>
            <a:off x="2520696" y="4120896"/>
            <a:ext cx="3575304" cy="2286000"/>
          </a:xfrm>
          <a:prstGeom prst="rect">
            <a:avLst/>
          </a:prstGeom>
          <a:solidFill>
            <a:schemeClr val="bg1"/>
          </a:solidFill>
          <a:ln>
            <a:solidFill>
              <a:srgbClr val="009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Interested  in overall revenue growth and profitability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Use insights for high-level business decisions</a:t>
            </a:r>
            <a:endParaRPr lang="hi-IN" sz="1600" b="1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AB3C870-0668-90A6-0571-F5E7E507CFF4}"/>
              </a:ext>
            </a:extLst>
          </p:cNvPr>
          <p:cNvSpPr/>
          <p:nvPr/>
        </p:nvSpPr>
        <p:spPr>
          <a:xfrm>
            <a:off x="6678168" y="4120896"/>
            <a:ext cx="3575304" cy="2286000"/>
          </a:xfrm>
          <a:prstGeom prst="rect">
            <a:avLst/>
          </a:prstGeom>
          <a:solidFill>
            <a:schemeClr val="bg1"/>
          </a:solidFill>
          <a:ln>
            <a:solidFill>
              <a:srgbClr val="009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hi-IN" sz="1600" b="1" dirty="0">
                <a:solidFill>
                  <a:schemeClr val="tx1"/>
                </a:solidFill>
                <a:latin typeface="Arial" panose="020B0604020202020204" pitchFamily="34" charset="0"/>
              </a:rPr>
              <a:t>Manage individual stores in different cities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hi-I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hi-IN" sz="1600" b="1" dirty="0">
                <a:solidFill>
                  <a:schemeClr val="tx1"/>
                </a:solidFill>
                <a:latin typeface="Arial" panose="020B0604020202020204" pitchFamily="34" charset="0"/>
              </a:rPr>
              <a:t>Want to know which products sell more during promotions</a:t>
            </a:r>
            <a:endParaRPr lang="hi-IN" altLang="hi-IN" sz="1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15B1699-1893-8043-F8A5-720141E0148C}"/>
              </a:ext>
            </a:extLst>
          </p:cNvPr>
          <p:cNvSpPr/>
          <p:nvPr/>
        </p:nvSpPr>
        <p:spPr>
          <a:xfrm>
            <a:off x="512064" y="1453896"/>
            <a:ext cx="3575304" cy="44805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Sales Team</a:t>
            </a:r>
            <a:endParaRPr lang="en-US" dirty="0"/>
          </a:p>
          <a:p>
            <a:pPr algn="ctr"/>
            <a:endParaRPr lang="hi-I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3A7CA7F-7572-202F-17D7-F87A8E3CEBDE}"/>
              </a:ext>
            </a:extLst>
          </p:cNvPr>
          <p:cNvSpPr/>
          <p:nvPr/>
        </p:nvSpPr>
        <p:spPr>
          <a:xfrm>
            <a:off x="6678168" y="4128516"/>
            <a:ext cx="3575304" cy="44805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Retail Store Managers</a:t>
            </a:r>
          </a:p>
          <a:p>
            <a:pPr algn="ctr"/>
            <a:endParaRPr lang="hi-IN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5E01F1B-7042-3DAD-145D-C35F34A990A5}"/>
              </a:ext>
            </a:extLst>
          </p:cNvPr>
          <p:cNvSpPr/>
          <p:nvPr/>
        </p:nvSpPr>
        <p:spPr>
          <a:xfrm>
            <a:off x="2520696" y="4128516"/>
            <a:ext cx="3575304" cy="44805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Management</a:t>
            </a:r>
            <a:endParaRPr lang="hi-IN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501D3FC-70DD-3940-CB35-85CF4D6D134D}"/>
              </a:ext>
            </a:extLst>
          </p:cNvPr>
          <p:cNvSpPr/>
          <p:nvPr/>
        </p:nvSpPr>
        <p:spPr>
          <a:xfrm>
            <a:off x="8372857" y="1388364"/>
            <a:ext cx="3575304" cy="4480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Strategy Team</a:t>
            </a:r>
            <a:endParaRPr lang="hi-IN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63D415-AAFD-779E-251C-83B4C9FEED77}"/>
              </a:ext>
            </a:extLst>
          </p:cNvPr>
          <p:cNvSpPr/>
          <p:nvPr/>
        </p:nvSpPr>
        <p:spPr>
          <a:xfrm>
            <a:off x="4529330" y="1463040"/>
            <a:ext cx="3575304" cy="44805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Team</a:t>
            </a:r>
            <a:endParaRPr lang="hi-IN" dirty="0"/>
          </a:p>
        </p:txBody>
      </p:sp>
      <p:sp>
        <p:nvSpPr>
          <p:cNvPr id="55" name="Rectangle 7">
            <a:extLst>
              <a:ext uri="{FF2B5EF4-FFF2-40B4-BE49-F238E27FC236}">
                <a16:creationId xmlns:a16="http://schemas.microsoft.com/office/drawing/2014/main" id="{F614D921-149D-E411-B0E3-6D52D8F42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i-IN" altLang="hi-I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470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CE986B-DF5E-D581-9149-7B30986B7F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EAE95E5-65A2-EEB4-3E50-7D0F266A47DF}"/>
              </a:ext>
            </a:extLst>
          </p:cNvPr>
          <p:cNvGrpSpPr/>
          <p:nvPr/>
        </p:nvGrpSpPr>
        <p:grpSpPr>
          <a:xfrm>
            <a:off x="752725" y="367410"/>
            <a:ext cx="11006944" cy="6668377"/>
            <a:chOff x="292608" y="109728"/>
            <a:chExt cx="8686800" cy="3858768"/>
          </a:xfrm>
        </p:grpSpPr>
        <p:sp>
          <p:nvSpPr>
            <p:cNvPr id="9" name="Text 2">
              <a:extLst>
                <a:ext uri="{FF2B5EF4-FFF2-40B4-BE49-F238E27FC236}">
                  <a16:creationId xmlns:a16="http://schemas.microsoft.com/office/drawing/2014/main" id="{990174F4-29CA-CE20-3A8C-271B72DE081F}"/>
                </a:ext>
              </a:extLst>
            </p:cNvPr>
            <p:cNvSpPr/>
            <p:nvPr/>
          </p:nvSpPr>
          <p:spPr>
            <a:xfrm>
              <a:off x="292608" y="109728"/>
              <a:ext cx="86868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900" dirty="0"/>
            </a:p>
          </p:txBody>
        </p:sp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88424C1B-C95D-302E-39CD-EFC1551531F4}"/>
                </a:ext>
              </a:extLst>
            </p:cNvPr>
            <p:cNvSpPr/>
            <p:nvPr/>
          </p:nvSpPr>
          <p:spPr>
            <a:xfrm>
              <a:off x="320040" y="822960"/>
              <a:ext cx="8503920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11" name="Shape 4">
              <a:extLst>
                <a:ext uri="{FF2B5EF4-FFF2-40B4-BE49-F238E27FC236}">
                  <a16:creationId xmlns:a16="http://schemas.microsoft.com/office/drawing/2014/main" id="{C880A241-1BA4-FD32-9BDD-02F09BFA6FF0}"/>
                </a:ext>
              </a:extLst>
            </p:cNvPr>
            <p:cNvSpPr/>
            <p:nvPr/>
          </p:nvSpPr>
          <p:spPr>
            <a:xfrm>
              <a:off x="320040" y="822960"/>
              <a:ext cx="1645920" cy="768096"/>
            </a:xfrm>
            <a:prstGeom prst="rect">
              <a:avLst/>
            </a:prstGeom>
            <a:solidFill>
              <a:srgbClr val="1E7E4A"/>
            </a:solidFill>
            <a:ln w="12700">
              <a:solidFill>
                <a:srgbClr val="1E7E4A"/>
              </a:solidFill>
              <a:prstDash val="solid"/>
            </a:ln>
          </p:spPr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8F5E60EF-3311-E938-1B71-0D4B705F4569}"/>
                </a:ext>
              </a:extLst>
            </p:cNvPr>
            <p:cNvSpPr/>
            <p:nvPr/>
          </p:nvSpPr>
          <p:spPr>
            <a:xfrm>
              <a:off x="320040" y="1024128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📗 Microsoft Excel</a:t>
              </a:r>
              <a:endParaRPr lang="en-US" sz="1100" dirty="0"/>
            </a:p>
          </p:txBody>
        </p:sp>
        <p:sp>
          <p:nvSpPr>
            <p:cNvPr id="13" name="Text 6">
              <a:extLst>
                <a:ext uri="{FF2B5EF4-FFF2-40B4-BE49-F238E27FC236}">
                  <a16:creationId xmlns:a16="http://schemas.microsoft.com/office/drawing/2014/main" id="{83D436CF-7A02-F9FF-F697-A1616AD910B8}"/>
                </a:ext>
              </a:extLst>
            </p:cNvPr>
            <p:cNvSpPr/>
            <p:nvPr/>
          </p:nvSpPr>
          <p:spPr>
            <a:xfrm>
              <a:off x="2066544" y="914400"/>
              <a:ext cx="480060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Primary analysis tool. Used for data cleaning, XLOOKUP/SUMIFS enrichment, Sales Growth % column, Pivot Tables .</a:t>
              </a:r>
              <a:endParaRPr lang="en-US" sz="900" dirty="0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C62C6014-9E37-FD13-8BAC-C7214F478093}"/>
                </a:ext>
              </a:extLst>
            </p:cNvPr>
            <p:cNvSpPr/>
            <p:nvPr/>
          </p:nvSpPr>
          <p:spPr>
            <a:xfrm>
              <a:off x="6967728" y="914400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31151F20-3F7A-663D-9B7D-CCA61A3C65FE}"/>
                </a:ext>
              </a:extLst>
            </p:cNvPr>
            <p:cNvSpPr/>
            <p:nvPr/>
          </p:nvSpPr>
          <p:spPr>
            <a:xfrm>
              <a:off x="6986016" y="914400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Cleaning</a:t>
              </a:r>
              <a:endParaRPr lang="en-US" sz="750" dirty="0"/>
            </a:p>
          </p:txBody>
        </p:sp>
        <p:sp>
          <p:nvSpPr>
            <p:cNvPr id="16" name="Shape 9">
              <a:extLst>
                <a:ext uri="{FF2B5EF4-FFF2-40B4-BE49-F238E27FC236}">
                  <a16:creationId xmlns:a16="http://schemas.microsoft.com/office/drawing/2014/main" id="{148AC7C2-87F0-D781-B7B2-78E55FEB45C5}"/>
                </a:ext>
              </a:extLst>
            </p:cNvPr>
            <p:cNvSpPr/>
            <p:nvPr/>
          </p:nvSpPr>
          <p:spPr>
            <a:xfrm>
              <a:off x="6967728" y="1042416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48A99E68-3848-B754-EAAD-6DF358F7C3FE}"/>
                </a:ext>
              </a:extLst>
            </p:cNvPr>
            <p:cNvSpPr/>
            <p:nvPr/>
          </p:nvSpPr>
          <p:spPr>
            <a:xfrm>
              <a:off x="6986016" y="1042416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XLOOKUP / SUMIFS</a:t>
              </a:r>
              <a:endParaRPr lang="en-US" sz="750" dirty="0"/>
            </a:p>
          </p:txBody>
        </p:sp>
        <p:sp>
          <p:nvSpPr>
            <p:cNvPr id="18" name="Shape 11">
              <a:extLst>
                <a:ext uri="{FF2B5EF4-FFF2-40B4-BE49-F238E27FC236}">
                  <a16:creationId xmlns:a16="http://schemas.microsoft.com/office/drawing/2014/main" id="{591965BD-8124-52FF-4781-C3C3D493336F}"/>
                </a:ext>
              </a:extLst>
            </p:cNvPr>
            <p:cNvSpPr/>
            <p:nvPr/>
          </p:nvSpPr>
          <p:spPr>
            <a:xfrm>
              <a:off x="6967728" y="1170432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2FBA27F1-4569-0A5A-3736-A87B76597843}"/>
                </a:ext>
              </a:extLst>
            </p:cNvPr>
            <p:cNvSpPr/>
            <p:nvPr/>
          </p:nvSpPr>
          <p:spPr>
            <a:xfrm>
              <a:off x="6986016" y="1170432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Formula Columns</a:t>
              </a:r>
              <a:endParaRPr lang="en-US" sz="750" dirty="0"/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5A5840AF-2887-5EFC-2F5D-980D020204EE}"/>
                </a:ext>
              </a:extLst>
            </p:cNvPr>
            <p:cNvSpPr/>
            <p:nvPr/>
          </p:nvSpPr>
          <p:spPr>
            <a:xfrm>
              <a:off x="6967728" y="1298448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0D5D969B-5C21-D008-C5F4-F633596E57D3}"/>
                </a:ext>
              </a:extLst>
            </p:cNvPr>
            <p:cNvSpPr/>
            <p:nvPr/>
          </p:nvSpPr>
          <p:spPr>
            <a:xfrm>
              <a:off x="6986016" y="1298448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Pivot Tables</a:t>
              </a:r>
              <a:endParaRPr lang="en-US" sz="750" dirty="0"/>
            </a:p>
          </p:txBody>
        </p:sp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103E1FC6-9541-9BC0-06F9-DC5E52AF883F}"/>
                </a:ext>
              </a:extLst>
            </p:cNvPr>
            <p:cNvSpPr/>
            <p:nvPr/>
          </p:nvSpPr>
          <p:spPr>
            <a:xfrm>
              <a:off x="6967728" y="1426464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66BB78C3-0C5D-6972-1126-372A96E65363}"/>
                </a:ext>
              </a:extLst>
            </p:cNvPr>
            <p:cNvSpPr/>
            <p:nvPr/>
          </p:nvSpPr>
          <p:spPr>
            <a:xfrm>
              <a:off x="6986016" y="1426464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Pivot Charts</a:t>
              </a:r>
              <a:endParaRPr lang="en-US" sz="750" dirty="0"/>
            </a:p>
          </p:txBody>
        </p:sp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8B299BA9-29EE-2404-1113-F557B04FE544}"/>
                </a:ext>
              </a:extLst>
            </p:cNvPr>
            <p:cNvSpPr/>
            <p:nvPr/>
          </p:nvSpPr>
          <p:spPr>
            <a:xfrm>
              <a:off x="320040" y="1682496"/>
              <a:ext cx="8503920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25" name="Shape 18">
              <a:extLst>
                <a:ext uri="{FF2B5EF4-FFF2-40B4-BE49-F238E27FC236}">
                  <a16:creationId xmlns:a16="http://schemas.microsoft.com/office/drawing/2014/main" id="{761EF44E-7373-14C6-3684-9D878134A7A7}"/>
                </a:ext>
              </a:extLst>
            </p:cNvPr>
            <p:cNvSpPr/>
            <p:nvPr/>
          </p:nvSpPr>
          <p:spPr>
            <a:xfrm>
              <a:off x="320040" y="1682496"/>
              <a:ext cx="1645920" cy="768096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DC4320C5-4F9B-4C21-E2B5-601B66C93642}"/>
                </a:ext>
              </a:extLst>
            </p:cNvPr>
            <p:cNvSpPr/>
            <p:nvPr/>
          </p:nvSpPr>
          <p:spPr>
            <a:xfrm>
              <a:off x="320040" y="1883664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🗄 SQL</a:t>
              </a:r>
              <a:endParaRPr lang="en-US" sz="1100" dirty="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6A307BE9-D7B5-E4F6-0A5D-64F1EA6F47A9}"/>
                </a:ext>
              </a:extLst>
            </p:cNvPr>
            <p:cNvSpPr/>
            <p:nvPr/>
          </p:nvSpPr>
          <p:spPr>
            <a:xfrm>
              <a:off x="2066544" y="1773936"/>
              <a:ext cx="480060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for querying relational databases, writing JOIN operations to combine tables, filtering large datasets, and aggregating sales data with GROUP BY.</a:t>
              </a:r>
              <a:endParaRPr lang="en-US" sz="900" dirty="0"/>
            </a:p>
          </p:txBody>
        </p:sp>
        <p:sp>
          <p:nvSpPr>
            <p:cNvPr id="28" name="Shape 21">
              <a:extLst>
                <a:ext uri="{FF2B5EF4-FFF2-40B4-BE49-F238E27FC236}">
                  <a16:creationId xmlns:a16="http://schemas.microsoft.com/office/drawing/2014/main" id="{D8EDE4B2-CCD3-5825-4F18-502DA8BAA360}"/>
                </a:ext>
              </a:extLst>
            </p:cNvPr>
            <p:cNvSpPr/>
            <p:nvPr/>
          </p:nvSpPr>
          <p:spPr>
            <a:xfrm>
              <a:off x="6967728" y="1773936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29" name="Text 22">
              <a:extLst>
                <a:ext uri="{FF2B5EF4-FFF2-40B4-BE49-F238E27FC236}">
                  <a16:creationId xmlns:a16="http://schemas.microsoft.com/office/drawing/2014/main" id="{4D2FD63F-D34F-25AC-0BC7-3FCB1869F203}"/>
                </a:ext>
              </a:extLst>
            </p:cNvPr>
            <p:cNvSpPr/>
            <p:nvPr/>
          </p:nvSpPr>
          <p:spPr>
            <a:xfrm>
              <a:off x="6986016" y="1773936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SELECT / WHERE</a:t>
              </a:r>
              <a:endParaRPr lang="en-US" sz="750" dirty="0"/>
            </a:p>
          </p:txBody>
        </p:sp>
        <p:sp>
          <p:nvSpPr>
            <p:cNvPr id="30" name="Shape 23">
              <a:extLst>
                <a:ext uri="{FF2B5EF4-FFF2-40B4-BE49-F238E27FC236}">
                  <a16:creationId xmlns:a16="http://schemas.microsoft.com/office/drawing/2014/main" id="{DD6F2567-D8C0-FC97-DB52-2920C75B0C5C}"/>
                </a:ext>
              </a:extLst>
            </p:cNvPr>
            <p:cNvSpPr/>
            <p:nvPr/>
          </p:nvSpPr>
          <p:spPr>
            <a:xfrm>
              <a:off x="6967728" y="1901952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31" name="Text 24">
              <a:extLst>
                <a:ext uri="{FF2B5EF4-FFF2-40B4-BE49-F238E27FC236}">
                  <a16:creationId xmlns:a16="http://schemas.microsoft.com/office/drawing/2014/main" id="{61E459AB-436C-7E6F-F649-E0F042420FE5}"/>
                </a:ext>
              </a:extLst>
            </p:cNvPr>
            <p:cNvSpPr/>
            <p:nvPr/>
          </p:nvSpPr>
          <p:spPr>
            <a:xfrm>
              <a:off x="6986016" y="1901952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Table JOINs</a:t>
              </a:r>
              <a:endParaRPr lang="en-US" sz="750" dirty="0"/>
            </a:p>
          </p:txBody>
        </p:sp>
        <p:sp>
          <p:nvSpPr>
            <p:cNvPr id="32" name="Shape 25">
              <a:extLst>
                <a:ext uri="{FF2B5EF4-FFF2-40B4-BE49-F238E27FC236}">
                  <a16:creationId xmlns:a16="http://schemas.microsoft.com/office/drawing/2014/main" id="{6A0E97EF-177F-DD10-706E-5ECDDC35E5E1}"/>
                </a:ext>
              </a:extLst>
            </p:cNvPr>
            <p:cNvSpPr/>
            <p:nvPr/>
          </p:nvSpPr>
          <p:spPr>
            <a:xfrm>
              <a:off x="6967728" y="2029968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33" name="Text 26">
              <a:extLst>
                <a:ext uri="{FF2B5EF4-FFF2-40B4-BE49-F238E27FC236}">
                  <a16:creationId xmlns:a16="http://schemas.microsoft.com/office/drawing/2014/main" id="{39D77589-DC67-B83B-3029-71733B3D87F1}"/>
                </a:ext>
              </a:extLst>
            </p:cNvPr>
            <p:cNvSpPr/>
            <p:nvPr/>
          </p:nvSpPr>
          <p:spPr>
            <a:xfrm>
              <a:off x="6986016" y="2029968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GROUP BY Aggregations</a:t>
              </a:r>
              <a:endParaRPr lang="en-US" sz="750" dirty="0"/>
            </a:p>
          </p:txBody>
        </p:sp>
        <p:sp>
          <p:nvSpPr>
            <p:cNvPr id="34" name="Shape 27">
              <a:extLst>
                <a:ext uri="{FF2B5EF4-FFF2-40B4-BE49-F238E27FC236}">
                  <a16:creationId xmlns:a16="http://schemas.microsoft.com/office/drawing/2014/main" id="{E698DA68-DB13-07B2-3DA1-8D338547CCC8}"/>
                </a:ext>
              </a:extLst>
            </p:cNvPr>
            <p:cNvSpPr/>
            <p:nvPr/>
          </p:nvSpPr>
          <p:spPr>
            <a:xfrm>
              <a:off x="6967728" y="2157984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35" name="Text 28">
              <a:extLst>
                <a:ext uri="{FF2B5EF4-FFF2-40B4-BE49-F238E27FC236}">
                  <a16:creationId xmlns:a16="http://schemas.microsoft.com/office/drawing/2014/main" id="{A7C92335-7EF9-36C8-6DB5-271AA928F61F}"/>
                </a:ext>
              </a:extLst>
            </p:cNvPr>
            <p:cNvSpPr/>
            <p:nvPr/>
          </p:nvSpPr>
          <p:spPr>
            <a:xfrm>
              <a:off x="6986016" y="2157984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Subqueries</a:t>
              </a:r>
              <a:endParaRPr lang="en-US" sz="750" dirty="0"/>
            </a:p>
          </p:txBody>
        </p:sp>
        <p:sp>
          <p:nvSpPr>
            <p:cNvPr id="36" name="Shape 29">
              <a:extLst>
                <a:ext uri="{FF2B5EF4-FFF2-40B4-BE49-F238E27FC236}">
                  <a16:creationId xmlns:a16="http://schemas.microsoft.com/office/drawing/2014/main" id="{C2D87BD0-C993-AA4C-E04E-F950D368A1F2}"/>
                </a:ext>
              </a:extLst>
            </p:cNvPr>
            <p:cNvSpPr/>
            <p:nvPr/>
          </p:nvSpPr>
          <p:spPr>
            <a:xfrm>
              <a:off x="6967728" y="2286000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37" name="Text 30">
              <a:extLst>
                <a:ext uri="{FF2B5EF4-FFF2-40B4-BE49-F238E27FC236}">
                  <a16:creationId xmlns:a16="http://schemas.microsoft.com/office/drawing/2014/main" id="{BF772C84-3434-9781-B2D9-7A3EAD6B43E9}"/>
                </a:ext>
              </a:extLst>
            </p:cNvPr>
            <p:cNvSpPr/>
            <p:nvPr/>
          </p:nvSpPr>
          <p:spPr>
            <a:xfrm>
              <a:off x="6986016" y="2286000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Window Functions</a:t>
              </a:r>
              <a:endParaRPr lang="en-US" sz="750" dirty="0"/>
            </a:p>
          </p:txBody>
        </p:sp>
        <p:sp>
          <p:nvSpPr>
            <p:cNvPr id="38" name="Shape 31">
              <a:extLst>
                <a:ext uri="{FF2B5EF4-FFF2-40B4-BE49-F238E27FC236}">
                  <a16:creationId xmlns:a16="http://schemas.microsoft.com/office/drawing/2014/main" id="{A4A10ADC-052D-B889-78FF-9B16352BC912}"/>
                </a:ext>
              </a:extLst>
            </p:cNvPr>
            <p:cNvSpPr/>
            <p:nvPr/>
          </p:nvSpPr>
          <p:spPr>
            <a:xfrm>
              <a:off x="320040" y="2542032"/>
              <a:ext cx="8503920" cy="7680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39" name="Shape 32">
              <a:extLst>
                <a:ext uri="{FF2B5EF4-FFF2-40B4-BE49-F238E27FC236}">
                  <a16:creationId xmlns:a16="http://schemas.microsoft.com/office/drawing/2014/main" id="{21E3AB54-6F7A-9C2E-7D2F-8CBF97A217E7}"/>
                </a:ext>
              </a:extLst>
            </p:cNvPr>
            <p:cNvSpPr/>
            <p:nvPr/>
          </p:nvSpPr>
          <p:spPr>
            <a:xfrm>
              <a:off x="320040" y="2542032"/>
              <a:ext cx="1645920" cy="768096"/>
            </a:xfrm>
            <a:prstGeom prst="rect">
              <a:avLst/>
            </a:prstGeom>
            <a:solidFill>
              <a:srgbClr val="5C3A9E"/>
            </a:solidFill>
            <a:ln w="12700">
              <a:solidFill>
                <a:srgbClr val="5C3A9E"/>
              </a:solidFill>
              <a:prstDash val="solid"/>
            </a:ln>
          </p:spPr>
        </p:sp>
        <p:sp>
          <p:nvSpPr>
            <p:cNvPr id="40" name="Text 33">
              <a:extLst>
                <a:ext uri="{FF2B5EF4-FFF2-40B4-BE49-F238E27FC236}">
                  <a16:creationId xmlns:a16="http://schemas.microsoft.com/office/drawing/2014/main" id="{37DED780-7937-2E46-C943-0277BBFCB119}"/>
                </a:ext>
              </a:extLst>
            </p:cNvPr>
            <p:cNvSpPr/>
            <p:nvPr/>
          </p:nvSpPr>
          <p:spPr>
            <a:xfrm>
              <a:off x="320040" y="2743200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📊 Power BI (Desktop)</a:t>
              </a:r>
              <a:endParaRPr lang="en-US" sz="1100" dirty="0"/>
            </a:p>
          </p:txBody>
        </p:sp>
        <p:sp>
          <p:nvSpPr>
            <p:cNvPr id="41" name="Text 34">
              <a:extLst>
                <a:ext uri="{FF2B5EF4-FFF2-40B4-BE49-F238E27FC236}">
                  <a16:creationId xmlns:a16="http://schemas.microsoft.com/office/drawing/2014/main" id="{BA5C3847-8CAD-F8C5-9775-5894EE7C48EE}"/>
                </a:ext>
              </a:extLst>
            </p:cNvPr>
            <p:cNvSpPr/>
            <p:nvPr/>
          </p:nvSpPr>
          <p:spPr>
            <a:xfrm>
              <a:off x="2066544" y="2633472"/>
              <a:ext cx="4800600" cy="6035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to build interactive dashboards with slicers, bar/line/pie charts, and drill-through pages for executive reporting.</a:t>
              </a:r>
              <a:endParaRPr lang="en-US" sz="900" dirty="0"/>
            </a:p>
          </p:txBody>
        </p:sp>
        <p:sp>
          <p:nvSpPr>
            <p:cNvPr id="42" name="Shape 35">
              <a:extLst>
                <a:ext uri="{FF2B5EF4-FFF2-40B4-BE49-F238E27FC236}">
                  <a16:creationId xmlns:a16="http://schemas.microsoft.com/office/drawing/2014/main" id="{11950E96-2161-0564-EDA7-7C21D6F903C7}"/>
                </a:ext>
              </a:extLst>
            </p:cNvPr>
            <p:cNvSpPr/>
            <p:nvPr/>
          </p:nvSpPr>
          <p:spPr>
            <a:xfrm>
              <a:off x="6967728" y="2633472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43" name="Text 36">
              <a:extLst>
                <a:ext uri="{FF2B5EF4-FFF2-40B4-BE49-F238E27FC236}">
                  <a16:creationId xmlns:a16="http://schemas.microsoft.com/office/drawing/2014/main" id="{E68D2D65-0F7C-CE60-147B-9624ED1ADA1A}"/>
                </a:ext>
              </a:extLst>
            </p:cNvPr>
            <p:cNvSpPr/>
            <p:nvPr/>
          </p:nvSpPr>
          <p:spPr>
            <a:xfrm>
              <a:off x="6986016" y="2633472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Modelling</a:t>
              </a:r>
              <a:endParaRPr lang="en-US" sz="750" dirty="0"/>
            </a:p>
          </p:txBody>
        </p:sp>
        <p:sp>
          <p:nvSpPr>
            <p:cNvPr id="44" name="Shape 37">
              <a:extLst>
                <a:ext uri="{FF2B5EF4-FFF2-40B4-BE49-F238E27FC236}">
                  <a16:creationId xmlns:a16="http://schemas.microsoft.com/office/drawing/2014/main" id="{ACB3DB10-AB55-ABC1-8909-4B5E9DFCD8B9}"/>
                </a:ext>
              </a:extLst>
            </p:cNvPr>
            <p:cNvSpPr/>
            <p:nvPr/>
          </p:nvSpPr>
          <p:spPr>
            <a:xfrm>
              <a:off x="6967728" y="2761488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45" name="Text 38">
              <a:extLst>
                <a:ext uri="{FF2B5EF4-FFF2-40B4-BE49-F238E27FC236}">
                  <a16:creationId xmlns:a16="http://schemas.microsoft.com/office/drawing/2014/main" id="{B11F1D0C-88B3-7377-7656-27C1564900D9}"/>
                </a:ext>
              </a:extLst>
            </p:cNvPr>
            <p:cNvSpPr/>
            <p:nvPr/>
          </p:nvSpPr>
          <p:spPr>
            <a:xfrm>
              <a:off x="6986016" y="2761488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DAX Measures</a:t>
              </a:r>
              <a:endParaRPr lang="en-US" sz="750" dirty="0"/>
            </a:p>
          </p:txBody>
        </p:sp>
        <p:sp>
          <p:nvSpPr>
            <p:cNvPr id="46" name="Shape 39">
              <a:extLst>
                <a:ext uri="{FF2B5EF4-FFF2-40B4-BE49-F238E27FC236}">
                  <a16:creationId xmlns:a16="http://schemas.microsoft.com/office/drawing/2014/main" id="{EB92DF0E-DDD5-568D-68DA-E3CDF523B959}"/>
                </a:ext>
              </a:extLst>
            </p:cNvPr>
            <p:cNvSpPr/>
            <p:nvPr/>
          </p:nvSpPr>
          <p:spPr>
            <a:xfrm>
              <a:off x="6967728" y="2889504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47" name="Text 40">
              <a:extLst>
                <a:ext uri="{FF2B5EF4-FFF2-40B4-BE49-F238E27FC236}">
                  <a16:creationId xmlns:a16="http://schemas.microsoft.com/office/drawing/2014/main" id="{588DD48B-CC3F-F273-3AB7-8D0CE8D6CDDC}"/>
                </a:ext>
              </a:extLst>
            </p:cNvPr>
            <p:cNvSpPr/>
            <p:nvPr/>
          </p:nvSpPr>
          <p:spPr>
            <a:xfrm>
              <a:off x="6986016" y="2889504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Dashboard Design</a:t>
              </a:r>
              <a:endParaRPr lang="en-US" sz="750" dirty="0"/>
            </a:p>
          </p:txBody>
        </p:sp>
        <p:sp>
          <p:nvSpPr>
            <p:cNvPr id="48" name="Shape 41">
              <a:extLst>
                <a:ext uri="{FF2B5EF4-FFF2-40B4-BE49-F238E27FC236}">
                  <a16:creationId xmlns:a16="http://schemas.microsoft.com/office/drawing/2014/main" id="{0825DC53-9090-1400-2CA7-AD3F33E49505}"/>
                </a:ext>
              </a:extLst>
            </p:cNvPr>
            <p:cNvSpPr/>
            <p:nvPr/>
          </p:nvSpPr>
          <p:spPr>
            <a:xfrm>
              <a:off x="6967728" y="3017520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49" name="Text 42">
              <a:extLst>
                <a:ext uri="{FF2B5EF4-FFF2-40B4-BE49-F238E27FC236}">
                  <a16:creationId xmlns:a16="http://schemas.microsoft.com/office/drawing/2014/main" id="{38684986-FE3E-1C4B-D62B-0685F0C1FB5F}"/>
                </a:ext>
              </a:extLst>
            </p:cNvPr>
            <p:cNvSpPr/>
            <p:nvPr/>
          </p:nvSpPr>
          <p:spPr>
            <a:xfrm>
              <a:off x="6986016" y="3017520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Drill-through</a:t>
              </a:r>
              <a:endParaRPr lang="en-US" sz="750" dirty="0"/>
            </a:p>
          </p:txBody>
        </p:sp>
        <p:sp>
          <p:nvSpPr>
            <p:cNvPr id="50" name="Shape 43">
              <a:extLst>
                <a:ext uri="{FF2B5EF4-FFF2-40B4-BE49-F238E27FC236}">
                  <a16:creationId xmlns:a16="http://schemas.microsoft.com/office/drawing/2014/main" id="{D435B63D-4D88-7F98-15AE-0DC2B98D6FAD}"/>
                </a:ext>
              </a:extLst>
            </p:cNvPr>
            <p:cNvSpPr/>
            <p:nvPr/>
          </p:nvSpPr>
          <p:spPr>
            <a:xfrm>
              <a:off x="6967728" y="3145536"/>
              <a:ext cx="1426464" cy="109728"/>
            </a:xfrm>
            <a:prstGeom prst="rect">
              <a:avLst/>
            </a:prstGeom>
            <a:solidFill>
              <a:srgbClr val="E0EAF4"/>
            </a:solidFill>
            <a:ln w="12700">
              <a:solidFill>
                <a:srgbClr val="E0EAF4"/>
              </a:solidFill>
              <a:prstDash val="solid"/>
            </a:ln>
          </p:spPr>
        </p:sp>
        <p:sp>
          <p:nvSpPr>
            <p:cNvPr id="51" name="Text 44">
              <a:extLst>
                <a:ext uri="{FF2B5EF4-FFF2-40B4-BE49-F238E27FC236}">
                  <a16:creationId xmlns:a16="http://schemas.microsoft.com/office/drawing/2014/main" id="{10943EC7-049A-4D7B-3AEA-788A0488A24C}"/>
                </a:ext>
              </a:extLst>
            </p:cNvPr>
            <p:cNvSpPr/>
            <p:nvPr/>
          </p:nvSpPr>
          <p:spPr>
            <a:xfrm>
              <a:off x="6986016" y="3145536"/>
              <a:ext cx="1389888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Slicers / Filters</a:t>
              </a:r>
              <a:endParaRPr lang="en-US" sz="750" dirty="0"/>
            </a:p>
          </p:txBody>
        </p:sp>
        <p:sp>
          <p:nvSpPr>
            <p:cNvPr id="52" name="Text 47">
              <a:extLst>
                <a:ext uri="{FF2B5EF4-FFF2-40B4-BE49-F238E27FC236}">
                  <a16:creationId xmlns:a16="http://schemas.microsoft.com/office/drawing/2014/main" id="{23AAC901-32CB-BFA0-ED7D-7C3206D0C206}"/>
                </a:ext>
              </a:extLst>
            </p:cNvPr>
            <p:cNvSpPr/>
            <p:nvPr/>
          </p:nvSpPr>
          <p:spPr>
            <a:xfrm>
              <a:off x="320040" y="3602736"/>
              <a:ext cx="16459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☁ Power BI Service</a:t>
              </a:r>
              <a:endParaRPr lang="en-US" sz="1100" dirty="0"/>
            </a:p>
          </p:txBody>
        </p:sp>
      </p:grpSp>
      <p:sp>
        <p:nvSpPr>
          <p:cNvPr id="54" name="Rectangle 53">
            <a:extLst>
              <a:ext uri="{FF2B5EF4-FFF2-40B4-BE49-F238E27FC236}">
                <a16:creationId xmlns:a16="http://schemas.microsoft.com/office/drawing/2014/main" id="{A57D9684-994B-3803-98DF-75E76E1AE629}"/>
              </a:ext>
            </a:extLst>
          </p:cNvPr>
          <p:cNvSpPr/>
          <p:nvPr/>
        </p:nvSpPr>
        <p:spPr>
          <a:xfrm>
            <a:off x="156972" y="101356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>
              <a:solidFill>
                <a:schemeClr val="tx1"/>
              </a:solidFill>
              <a:latin typeface="Century Schoolbook" panose="02040604050505020304" pitchFamily="18" charset="0"/>
              <a:ea typeface="+mj-ea"/>
              <a:cs typeface="+mj-cs"/>
            </a:endParaRPr>
          </a:p>
          <a:p>
            <a:pPr algn="ctr"/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Technology Stack</a:t>
            </a:r>
            <a:endParaRPr lang="en-US" sz="32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  <a:p>
            <a:pPr algn="ctr"/>
            <a:endParaRPr lang="hi-IN" sz="3200" b="1" dirty="0">
              <a:solidFill>
                <a:schemeClr val="tx1"/>
              </a:solidFill>
              <a:latin typeface="Century Schoolbook" panose="02040604050505020304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5903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3" descr="People with documents">
            <a:extLst>
              <a:ext uri="{FF2B5EF4-FFF2-40B4-BE49-F238E27FC236}">
                <a16:creationId xmlns:a16="http://schemas.microsoft.com/office/drawing/2014/main" id="{0E57AFBB-FF18-750D-8B09-3325F8C9F41A}"/>
              </a:ext>
            </a:extLst>
          </p:cNvPr>
          <p:cNvSpPr/>
          <p:nvPr/>
        </p:nvSpPr>
        <p:spPr>
          <a:xfrm>
            <a:off x="-508" y="18288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90A2">
              <a:alpha val="69999"/>
            </a:srgbClr>
          </a:solidFill>
        </p:spPr>
        <p:txBody>
          <a:bodyPr wrap="square" lIns="0" tIns="0" rIns="0" bIns="0" rtlCol="0"/>
          <a:lstStyle/>
          <a:p>
            <a:r>
              <a:rPr lang="en-US" dirty="0"/>
              <a:t>Data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623EA-DE59-8920-ED78-592066FEC5FB}"/>
              </a:ext>
            </a:extLst>
          </p:cNvPr>
          <p:cNvSpPr/>
          <p:nvPr/>
        </p:nvSpPr>
        <p:spPr>
          <a:xfrm>
            <a:off x="-508" y="18288"/>
            <a:ext cx="585724" cy="69311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ECC590-D566-2BBB-7FD1-A0A26281748E}"/>
              </a:ext>
            </a:extLst>
          </p:cNvPr>
          <p:cNvSpPr txBox="1"/>
          <p:nvPr/>
        </p:nvSpPr>
        <p:spPr>
          <a:xfrm>
            <a:off x="1289304" y="2322576"/>
            <a:ext cx="73334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 Architecture</a:t>
            </a:r>
            <a:br>
              <a:rPr lang="en-US" sz="8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Data Overview | Data Dictionary   |   Metadata   |  ER Diagram   |</a:t>
            </a:r>
            <a:endParaRPr lang="hi-IN" sz="8000" dirty="0">
              <a:solidFill>
                <a:schemeClr val="bg1"/>
              </a:solidFill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39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10089A6-7912-32FA-6D8F-F4541280B39A}"/>
              </a:ext>
            </a:extLst>
          </p:cNvPr>
          <p:cNvSpPr/>
          <p:nvPr/>
        </p:nvSpPr>
        <p:spPr>
          <a:xfrm>
            <a:off x="156972" y="101356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Data Overview</a:t>
            </a:r>
            <a:endParaRPr lang="hi-IN" sz="3200" b="1" dirty="0">
              <a:solidFill>
                <a:schemeClr val="tx1"/>
              </a:solidFill>
              <a:latin typeface="Century Schoolbook" panose="02040604050505020304" pitchFamily="18" charset="0"/>
              <a:ea typeface="+mj-ea"/>
              <a:cs typeface="+mj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31AD14-15F1-53D3-4465-DC30FAACF6B4}"/>
              </a:ext>
            </a:extLst>
          </p:cNvPr>
          <p:cNvSpPr txBox="1"/>
          <p:nvPr/>
        </p:nvSpPr>
        <p:spPr>
          <a:xfrm>
            <a:off x="413766" y="1114211"/>
            <a:ext cx="977265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u="sng" dirty="0">
                <a:latin typeface="Algerian" panose="04020705040A02060702" pitchFamily="82" charset="0"/>
              </a:rPr>
              <a:t>Dataset Summary</a:t>
            </a:r>
          </a:p>
          <a:p>
            <a:pPr>
              <a:buNone/>
            </a:pPr>
            <a:endParaRPr lang="en-US" sz="3200" u="sng" dirty="0">
              <a:latin typeface="Algerian" panose="04020705040A02060702" pitchFamily="8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Total Records:</a:t>
            </a:r>
            <a:r>
              <a:rPr lang="en-US" sz="2800" dirty="0"/>
              <a:t> </a:t>
            </a:r>
            <a:r>
              <a:rPr lang="en-US" sz="2000" dirty="0"/>
              <a:t>~1500+ rows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Total Columns:</a:t>
            </a:r>
            <a:r>
              <a:rPr lang="en-US" sz="2800" dirty="0"/>
              <a:t> </a:t>
            </a:r>
            <a:r>
              <a:rPr lang="en-US" sz="2000" dirty="0"/>
              <a:t>17 fields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Data Type:</a:t>
            </a:r>
            <a:r>
              <a:rPr lang="en-US" sz="2800" dirty="0"/>
              <a:t> </a:t>
            </a:r>
            <a:r>
              <a:rPr lang="en-US" sz="2000" dirty="0"/>
              <a:t>Retail Sales &amp; Promotional Campaign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Campaigns:</a:t>
            </a:r>
            <a:r>
              <a:rPr lang="en-US" sz="2800" dirty="0"/>
              <a:t> </a:t>
            </a:r>
            <a:r>
              <a:rPr lang="en-US" sz="2000" dirty="0"/>
              <a:t>Diwali, Sankranti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Key Variables:</a:t>
            </a:r>
            <a:r>
              <a:rPr lang="en-US" sz="2800" dirty="0"/>
              <a:t> </a:t>
            </a:r>
            <a:r>
              <a:rPr lang="en-US" sz="2000" dirty="0"/>
              <a:t>Store ID, Product Code, Campaign ID, Promotion Type, Sales Before &amp; After Promotion, City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5ACFC5-C013-15C9-B4F6-CEF49BB680A0}"/>
              </a:ext>
            </a:extLst>
          </p:cNvPr>
          <p:cNvSpPr/>
          <p:nvPr/>
        </p:nvSpPr>
        <p:spPr>
          <a:xfrm>
            <a:off x="704088" y="4873752"/>
            <a:ext cx="1847088" cy="1301150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3200" dirty="0">
                <a:latin typeface="Algerian" panose="04020705040A02060702" pitchFamily="82" charset="0"/>
              </a:rPr>
              <a:t>50+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88706FE-02D8-635A-1F13-BBB5871544AF}"/>
              </a:ext>
            </a:extLst>
          </p:cNvPr>
          <p:cNvSpPr/>
          <p:nvPr/>
        </p:nvSpPr>
        <p:spPr>
          <a:xfrm>
            <a:off x="7604760" y="4844558"/>
            <a:ext cx="1847088" cy="13011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3200" dirty="0"/>
              <a:t>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0A4C10-B0B5-27AF-FBC4-362A226F71B2}"/>
              </a:ext>
            </a:extLst>
          </p:cNvPr>
          <p:cNvSpPr/>
          <p:nvPr/>
        </p:nvSpPr>
        <p:spPr>
          <a:xfrm>
            <a:off x="5213936" y="4844558"/>
            <a:ext cx="1847088" cy="1301150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3200" dirty="0"/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2742AA-BF67-9768-FE10-0872D54C681E}"/>
              </a:ext>
            </a:extLst>
          </p:cNvPr>
          <p:cNvSpPr/>
          <p:nvPr/>
        </p:nvSpPr>
        <p:spPr>
          <a:xfrm>
            <a:off x="3008376" y="4844558"/>
            <a:ext cx="1847088" cy="13011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i-IN" sz="3200" dirty="0"/>
              <a:t>1,500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3DB3DA-9F6D-F7A8-39ED-90CB172132E3}"/>
              </a:ext>
            </a:extLst>
          </p:cNvPr>
          <p:cNvSpPr txBox="1"/>
          <p:nvPr/>
        </p:nvSpPr>
        <p:spPr>
          <a:xfrm>
            <a:off x="1261872" y="5635055"/>
            <a:ext cx="731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Store</a:t>
            </a:r>
            <a:endParaRPr lang="hi-IN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F9015C-9FC7-4966-2395-EE98BAB80466}"/>
              </a:ext>
            </a:extLst>
          </p:cNvPr>
          <p:cNvSpPr txBox="1"/>
          <p:nvPr/>
        </p:nvSpPr>
        <p:spPr>
          <a:xfrm>
            <a:off x="3566160" y="5619469"/>
            <a:ext cx="950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Events</a:t>
            </a:r>
            <a:endParaRPr lang="hi-IN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571747-72EC-56D1-42ED-4BDABBCFE166}"/>
              </a:ext>
            </a:extLst>
          </p:cNvPr>
          <p:cNvSpPr txBox="1"/>
          <p:nvPr/>
        </p:nvSpPr>
        <p:spPr>
          <a:xfrm>
            <a:off x="5572408" y="5619469"/>
            <a:ext cx="1488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Campaigns</a:t>
            </a:r>
            <a:r>
              <a:rPr lang="en-US" dirty="0"/>
              <a:t> </a:t>
            </a:r>
            <a:endParaRPr lang="hi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6F7A4C-AF70-9B92-E1EC-FAB9C7C618C8}"/>
              </a:ext>
            </a:extLst>
          </p:cNvPr>
          <p:cNvSpPr txBox="1"/>
          <p:nvPr/>
        </p:nvSpPr>
        <p:spPr>
          <a:xfrm>
            <a:off x="8162544" y="5635055"/>
            <a:ext cx="1021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Product</a:t>
            </a:r>
            <a:endParaRPr lang="hi-IN" sz="24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9884E6-45C6-ABC9-7525-79185616CCAA}"/>
              </a:ext>
            </a:extLst>
          </p:cNvPr>
          <p:cNvSpPr/>
          <p:nvPr/>
        </p:nvSpPr>
        <p:spPr>
          <a:xfrm>
            <a:off x="11548872" y="6096720"/>
            <a:ext cx="643128" cy="6599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3298964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39">
            <a:extLst>
              <a:ext uri="{FF2B5EF4-FFF2-40B4-BE49-F238E27FC236}">
                <a16:creationId xmlns:a16="http://schemas.microsoft.com/office/drawing/2014/main" id="{1C7544E1-A2A5-66F9-677F-E72E99C81B2E}"/>
              </a:ext>
            </a:extLst>
          </p:cNvPr>
          <p:cNvSpPr/>
          <p:nvPr/>
        </p:nvSpPr>
        <p:spPr>
          <a:xfrm>
            <a:off x="0" y="27432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512640D3-9DE6-DFE7-44C4-52AB41020014}"/>
              </a:ext>
            </a:extLst>
          </p:cNvPr>
          <p:cNvGrpSpPr/>
          <p:nvPr/>
        </p:nvGrpSpPr>
        <p:grpSpPr>
          <a:xfrm>
            <a:off x="874679" y="280711"/>
            <a:ext cx="10548885" cy="5699465"/>
            <a:chOff x="1816608" y="987552"/>
            <a:chExt cx="8732520" cy="4992624"/>
          </a:xfrm>
        </p:grpSpPr>
        <p:sp>
          <p:nvSpPr>
            <p:cNvPr id="143" name="Text 2">
              <a:extLst>
                <a:ext uri="{FF2B5EF4-FFF2-40B4-BE49-F238E27FC236}">
                  <a16:creationId xmlns:a16="http://schemas.microsoft.com/office/drawing/2014/main" id="{23DC7E7E-D315-E6E7-20FC-FE54A200064F}"/>
                </a:ext>
              </a:extLst>
            </p:cNvPr>
            <p:cNvSpPr/>
            <p:nvPr/>
          </p:nvSpPr>
          <p:spPr>
            <a:xfrm>
              <a:off x="1816608" y="987552"/>
              <a:ext cx="86868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05 | Available Data &amp; Data Dictionary</a:t>
              </a:r>
              <a:endParaRPr lang="en-US" sz="1900" dirty="0"/>
            </a:p>
          </p:txBody>
        </p:sp>
        <p:sp>
          <p:nvSpPr>
            <p:cNvPr id="144" name="Shape 3">
              <a:extLst>
                <a:ext uri="{FF2B5EF4-FFF2-40B4-BE49-F238E27FC236}">
                  <a16:creationId xmlns:a16="http://schemas.microsoft.com/office/drawing/2014/main" id="{71B9F6F6-CCD1-76C4-8018-9BF866064FD3}"/>
                </a:ext>
              </a:extLst>
            </p:cNvPr>
            <p:cNvSpPr/>
            <p:nvPr/>
          </p:nvSpPr>
          <p:spPr>
            <a:xfrm>
              <a:off x="1844040" y="1755648"/>
              <a:ext cx="4251960" cy="20482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145" name="Shape 4">
              <a:extLst>
                <a:ext uri="{FF2B5EF4-FFF2-40B4-BE49-F238E27FC236}">
                  <a16:creationId xmlns:a16="http://schemas.microsoft.com/office/drawing/2014/main" id="{2569911A-1A4F-1F7C-7A0B-CF9321ED1FE8}"/>
                </a:ext>
              </a:extLst>
            </p:cNvPr>
            <p:cNvSpPr/>
            <p:nvPr/>
          </p:nvSpPr>
          <p:spPr>
            <a:xfrm>
              <a:off x="1844040" y="1755648"/>
              <a:ext cx="4251960" cy="347472"/>
            </a:xfrm>
            <a:prstGeom prst="rect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146" name="Text 5">
              <a:extLst>
                <a:ext uri="{FF2B5EF4-FFF2-40B4-BE49-F238E27FC236}">
                  <a16:creationId xmlns:a16="http://schemas.microsoft.com/office/drawing/2014/main" id="{61D8D034-A4FA-E431-E4E8-CC9D4EAF92B6}"/>
                </a:ext>
              </a:extLst>
            </p:cNvPr>
            <p:cNvSpPr/>
            <p:nvPr/>
          </p:nvSpPr>
          <p:spPr>
            <a:xfrm>
              <a:off x="1935480" y="1792224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 dirty="0">
                  <a:solidFill>
                    <a:srgbClr val="E8A0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fact_events</a:t>
              </a:r>
              <a:endParaRPr lang="en-US" sz="1200" dirty="0"/>
            </a:p>
          </p:txBody>
        </p:sp>
        <p:sp>
          <p:nvSpPr>
            <p:cNvPr id="147" name="Text 6">
              <a:extLst>
                <a:ext uri="{FF2B5EF4-FFF2-40B4-BE49-F238E27FC236}">
                  <a16:creationId xmlns:a16="http://schemas.microsoft.com/office/drawing/2014/main" id="{6CDDDCE9-7633-8F57-9AE8-14172A745BA9}"/>
                </a:ext>
              </a:extLst>
            </p:cNvPr>
            <p:cNvSpPr/>
            <p:nvPr/>
          </p:nvSpPr>
          <p:spPr>
            <a:xfrm>
              <a:off x="4587240" y="181965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1,500 rows · 17 cols</a:t>
              </a:r>
              <a:endParaRPr lang="en-US" sz="850" dirty="0"/>
            </a:p>
          </p:txBody>
        </p:sp>
        <p:sp>
          <p:nvSpPr>
            <p:cNvPr id="148" name="Text 7">
              <a:extLst>
                <a:ext uri="{FF2B5EF4-FFF2-40B4-BE49-F238E27FC236}">
                  <a16:creationId xmlns:a16="http://schemas.microsoft.com/office/drawing/2014/main" id="{114E2EB2-2015-118E-0ED0-D484E4307F31}"/>
                </a:ext>
              </a:extLst>
            </p:cNvPr>
            <p:cNvSpPr/>
            <p:nvPr/>
          </p:nvSpPr>
          <p:spPr>
            <a:xfrm>
              <a:off x="1935480" y="2157984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transactional table. One row per promotional sales event.</a:t>
              </a:r>
              <a:endParaRPr lang="en-US" sz="900" dirty="0"/>
            </a:p>
          </p:txBody>
        </p:sp>
        <p:sp>
          <p:nvSpPr>
            <p:cNvPr id="149" name="Text 8">
              <a:extLst>
                <a:ext uri="{FF2B5EF4-FFF2-40B4-BE49-F238E27FC236}">
                  <a16:creationId xmlns:a16="http://schemas.microsoft.com/office/drawing/2014/main" id="{EE531DCF-025F-302E-447F-40373F1C5B90}"/>
                </a:ext>
              </a:extLst>
            </p:cNvPr>
            <p:cNvSpPr/>
            <p:nvPr/>
          </p:nvSpPr>
          <p:spPr>
            <a:xfrm>
              <a:off x="1981200" y="2450592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event_id</a:t>
              </a:r>
              <a:endParaRPr lang="en-US" sz="800" dirty="0"/>
            </a:p>
          </p:txBody>
        </p:sp>
        <p:sp>
          <p:nvSpPr>
            <p:cNvPr id="150" name="Text 9">
              <a:extLst>
                <a:ext uri="{FF2B5EF4-FFF2-40B4-BE49-F238E27FC236}">
                  <a16:creationId xmlns:a16="http://schemas.microsoft.com/office/drawing/2014/main" id="{C7B5C65B-50DD-98B1-388F-867EA86B9628}"/>
                </a:ext>
              </a:extLst>
            </p:cNvPr>
            <p:cNvSpPr/>
            <p:nvPr/>
          </p:nvSpPr>
          <p:spPr>
            <a:xfrm>
              <a:off x="4020312" y="2450592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PK – Unique event identifier</a:t>
              </a:r>
              <a:endParaRPr lang="en-US" sz="750" dirty="0"/>
            </a:p>
          </p:txBody>
        </p:sp>
        <p:sp>
          <p:nvSpPr>
            <p:cNvPr id="151" name="Text 10">
              <a:extLst>
                <a:ext uri="{FF2B5EF4-FFF2-40B4-BE49-F238E27FC236}">
                  <a16:creationId xmlns:a16="http://schemas.microsoft.com/office/drawing/2014/main" id="{04B271DC-5178-D227-9ABE-C7C3A3BB5264}"/>
                </a:ext>
              </a:extLst>
            </p:cNvPr>
            <p:cNvSpPr/>
            <p:nvPr/>
          </p:nvSpPr>
          <p:spPr>
            <a:xfrm>
              <a:off x="1981200" y="2670048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store_id</a:t>
              </a:r>
              <a:endParaRPr lang="en-US" sz="800" dirty="0"/>
            </a:p>
          </p:txBody>
        </p:sp>
        <p:sp>
          <p:nvSpPr>
            <p:cNvPr id="152" name="Text 11">
              <a:extLst>
                <a:ext uri="{FF2B5EF4-FFF2-40B4-BE49-F238E27FC236}">
                  <a16:creationId xmlns:a16="http://schemas.microsoft.com/office/drawing/2014/main" id="{D2043B7B-9D01-DD03-EB6A-6AF3FA779253}"/>
                </a:ext>
              </a:extLst>
            </p:cNvPr>
            <p:cNvSpPr/>
            <p:nvPr/>
          </p:nvSpPr>
          <p:spPr>
            <a:xfrm>
              <a:off x="4020312" y="2670048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FK → dim_stores</a:t>
              </a:r>
              <a:endParaRPr lang="en-US" sz="750" dirty="0"/>
            </a:p>
          </p:txBody>
        </p:sp>
        <p:sp>
          <p:nvSpPr>
            <p:cNvPr id="153" name="Text 12">
              <a:extLst>
                <a:ext uri="{FF2B5EF4-FFF2-40B4-BE49-F238E27FC236}">
                  <a16:creationId xmlns:a16="http://schemas.microsoft.com/office/drawing/2014/main" id="{32A0C6CD-1BC3-BBD8-0E45-25D26CE2CA52}"/>
                </a:ext>
              </a:extLst>
            </p:cNvPr>
            <p:cNvSpPr/>
            <p:nvPr/>
          </p:nvSpPr>
          <p:spPr>
            <a:xfrm>
              <a:off x="1981200" y="2889504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campaign_id</a:t>
              </a:r>
              <a:endParaRPr lang="en-US" sz="800" dirty="0"/>
            </a:p>
          </p:txBody>
        </p:sp>
        <p:sp>
          <p:nvSpPr>
            <p:cNvPr id="154" name="Text 13">
              <a:extLst>
                <a:ext uri="{FF2B5EF4-FFF2-40B4-BE49-F238E27FC236}">
                  <a16:creationId xmlns:a16="http://schemas.microsoft.com/office/drawing/2014/main" id="{5899AA35-7654-CF87-D5F8-9733150FAA8D}"/>
                </a:ext>
              </a:extLst>
            </p:cNvPr>
            <p:cNvSpPr/>
            <p:nvPr/>
          </p:nvSpPr>
          <p:spPr>
            <a:xfrm>
              <a:off x="4020312" y="2889504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FK → dim_campaigns</a:t>
              </a:r>
              <a:endParaRPr lang="en-US" sz="750" dirty="0"/>
            </a:p>
          </p:txBody>
        </p:sp>
        <p:sp>
          <p:nvSpPr>
            <p:cNvPr id="155" name="Text 14">
              <a:extLst>
                <a:ext uri="{FF2B5EF4-FFF2-40B4-BE49-F238E27FC236}">
                  <a16:creationId xmlns:a16="http://schemas.microsoft.com/office/drawing/2014/main" id="{7466EE1A-DA93-5376-3876-67C0151B6CC7}"/>
                </a:ext>
              </a:extLst>
            </p:cNvPr>
            <p:cNvSpPr/>
            <p:nvPr/>
          </p:nvSpPr>
          <p:spPr>
            <a:xfrm>
              <a:off x="1981200" y="3108960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product_code</a:t>
              </a:r>
              <a:endParaRPr lang="en-US" sz="800" dirty="0"/>
            </a:p>
          </p:txBody>
        </p:sp>
        <p:sp>
          <p:nvSpPr>
            <p:cNvPr id="156" name="Text 15">
              <a:extLst>
                <a:ext uri="{FF2B5EF4-FFF2-40B4-BE49-F238E27FC236}">
                  <a16:creationId xmlns:a16="http://schemas.microsoft.com/office/drawing/2014/main" id="{E657CE23-44E7-016E-4965-6549E41A2B84}"/>
                </a:ext>
              </a:extLst>
            </p:cNvPr>
            <p:cNvSpPr/>
            <p:nvPr/>
          </p:nvSpPr>
          <p:spPr>
            <a:xfrm>
              <a:off x="4020312" y="3108960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FK → dim_products</a:t>
              </a:r>
              <a:endParaRPr lang="en-US" sz="750" dirty="0"/>
            </a:p>
          </p:txBody>
        </p:sp>
        <p:sp>
          <p:nvSpPr>
            <p:cNvPr id="157" name="Text 16">
              <a:extLst>
                <a:ext uri="{FF2B5EF4-FFF2-40B4-BE49-F238E27FC236}">
                  <a16:creationId xmlns:a16="http://schemas.microsoft.com/office/drawing/2014/main" id="{E734897A-E1BD-BFA9-B1BB-C940E50300DA}"/>
                </a:ext>
              </a:extLst>
            </p:cNvPr>
            <p:cNvSpPr/>
            <p:nvPr/>
          </p:nvSpPr>
          <p:spPr>
            <a:xfrm>
              <a:off x="1981200" y="3328416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base_price</a:t>
              </a:r>
              <a:endParaRPr lang="en-US" sz="800" dirty="0"/>
            </a:p>
          </p:txBody>
        </p:sp>
        <p:sp>
          <p:nvSpPr>
            <p:cNvPr id="158" name="Text 17">
              <a:extLst>
                <a:ext uri="{FF2B5EF4-FFF2-40B4-BE49-F238E27FC236}">
                  <a16:creationId xmlns:a16="http://schemas.microsoft.com/office/drawing/2014/main" id="{6F7B18A4-39B4-5029-4A1C-9E5C112B2A3D}"/>
                </a:ext>
              </a:extLst>
            </p:cNvPr>
            <p:cNvSpPr/>
            <p:nvPr/>
          </p:nvSpPr>
          <p:spPr>
            <a:xfrm>
              <a:off x="4020312" y="3328416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 price before discount</a:t>
              </a:r>
              <a:endParaRPr lang="en-US" sz="750" dirty="0"/>
            </a:p>
          </p:txBody>
        </p:sp>
        <p:sp>
          <p:nvSpPr>
            <p:cNvPr id="159" name="Text 18">
              <a:extLst>
                <a:ext uri="{FF2B5EF4-FFF2-40B4-BE49-F238E27FC236}">
                  <a16:creationId xmlns:a16="http://schemas.microsoft.com/office/drawing/2014/main" id="{8709258B-40A1-8F4F-EA0E-6135545A60CA}"/>
                </a:ext>
              </a:extLst>
            </p:cNvPr>
            <p:cNvSpPr/>
            <p:nvPr/>
          </p:nvSpPr>
          <p:spPr>
            <a:xfrm>
              <a:off x="1981200" y="3547872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promo_type</a:t>
              </a:r>
              <a:endParaRPr lang="en-US" sz="800" dirty="0"/>
            </a:p>
          </p:txBody>
        </p:sp>
        <p:sp>
          <p:nvSpPr>
            <p:cNvPr id="160" name="Text 19">
              <a:extLst>
                <a:ext uri="{FF2B5EF4-FFF2-40B4-BE49-F238E27FC236}">
                  <a16:creationId xmlns:a16="http://schemas.microsoft.com/office/drawing/2014/main" id="{99F43FEA-07A2-9044-BD0D-223521C134F5}"/>
                </a:ext>
              </a:extLst>
            </p:cNvPr>
            <p:cNvSpPr/>
            <p:nvPr/>
          </p:nvSpPr>
          <p:spPr>
            <a:xfrm>
              <a:off x="4020312" y="3547872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Type of promotion applied</a:t>
              </a:r>
              <a:endParaRPr lang="en-US" sz="750" dirty="0"/>
            </a:p>
          </p:txBody>
        </p:sp>
        <p:sp>
          <p:nvSpPr>
            <p:cNvPr id="161" name="Shape 20">
              <a:extLst>
                <a:ext uri="{FF2B5EF4-FFF2-40B4-BE49-F238E27FC236}">
                  <a16:creationId xmlns:a16="http://schemas.microsoft.com/office/drawing/2014/main" id="{714251E1-36DB-C1CB-2C81-16CDFF958D11}"/>
                </a:ext>
              </a:extLst>
            </p:cNvPr>
            <p:cNvSpPr/>
            <p:nvPr/>
          </p:nvSpPr>
          <p:spPr>
            <a:xfrm>
              <a:off x="6297168" y="1755648"/>
              <a:ext cx="4251960" cy="20482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162" name="Shape 21">
              <a:extLst>
                <a:ext uri="{FF2B5EF4-FFF2-40B4-BE49-F238E27FC236}">
                  <a16:creationId xmlns:a16="http://schemas.microsoft.com/office/drawing/2014/main" id="{136B1655-B48A-3309-ADE2-F44C92BA50F2}"/>
                </a:ext>
              </a:extLst>
            </p:cNvPr>
            <p:cNvSpPr/>
            <p:nvPr/>
          </p:nvSpPr>
          <p:spPr>
            <a:xfrm>
              <a:off x="6297168" y="1755648"/>
              <a:ext cx="4251960" cy="347472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163" name="Text 22">
              <a:extLst>
                <a:ext uri="{FF2B5EF4-FFF2-40B4-BE49-F238E27FC236}">
                  <a16:creationId xmlns:a16="http://schemas.microsoft.com/office/drawing/2014/main" id="{B9145B35-2867-3E5C-9511-A9655A69D938}"/>
                </a:ext>
              </a:extLst>
            </p:cNvPr>
            <p:cNvSpPr/>
            <p:nvPr/>
          </p:nvSpPr>
          <p:spPr>
            <a:xfrm>
              <a:off x="6388608" y="1792224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 dirty="0">
                  <a:solidFill>
                    <a:srgbClr val="E8A0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dim_campaigns</a:t>
              </a:r>
              <a:endParaRPr lang="en-US" sz="1200" dirty="0"/>
            </a:p>
          </p:txBody>
        </p:sp>
        <p:sp>
          <p:nvSpPr>
            <p:cNvPr id="164" name="Text 23">
              <a:extLst>
                <a:ext uri="{FF2B5EF4-FFF2-40B4-BE49-F238E27FC236}">
                  <a16:creationId xmlns:a16="http://schemas.microsoft.com/office/drawing/2014/main" id="{EF5661E3-55FE-A9B5-237E-B769EE3B5721}"/>
                </a:ext>
              </a:extLst>
            </p:cNvPr>
            <p:cNvSpPr/>
            <p:nvPr/>
          </p:nvSpPr>
          <p:spPr>
            <a:xfrm>
              <a:off x="9040368" y="1819656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 rows · 4 cols</a:t>
              </a:r>
              <a:endParaRPr lang="en-US" sz="850" dirty="0"/>
            </a:p>
          </p:txBody>
        </p:sp>
        <p:sp>
          <p:nvSpPr>
            <p:cNvPr id="165" name="Text 24">
              <a:extLst>
                <a:ext uri="{FF2B5EF4-FFF2-40B4-BE49-F238E27FC236}">
                  <a16:creationId xmlns:a16="http://schemas.microsoft.com/office/drawing/2014/main" id="{B7551E76-BF5D-3979-1756-36CAC8210D25}"/>
                </a:ext>
              </a:extLst>
            </p:cNvPr>
            <p:cNvSpPr/>
            <p:nvPr/>
          </p:nvSpPr>
          <p:spPr>
            <a:xfrm>
              <a:off x="6388608" y="2157984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Lookup table for the two campaigns.</a:t>
              </a:r>
              <a:endParaRPr lang="en-US" sz="900" dirty="0"/>
            </a:p>
          </p:txBody>
        </p:sp>
        <p:sp>
          <p:nvSpPr>
            <p:cNvPr id="166" name="Text 25">
              <a:extLst>
                <a:ext uri="{FF2B5EF4-FFF2-40B4-BE49-F238E27FC236}">
                  <a16:creationId xmlns:a16="http://schemas.microsoft.com/office/drawing/2014/main" id="{FB3217FE-030F-DB1F-9A0C-134F757E4942}"/>
                </a:ext>
              </a:extLst>
            </p:cNvPr>
            <p:cNvSpPr/>
            <p:nvPr/>
          </p:nvSpPr>
          <p:spPr>
            <a:xfrm>
              <a:off x="6434328" y="2450592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campaign_id</a:t>
              </a:r>
              <a:endParaRPr lang="en-US" sz="800" dirty="0"/>
            </a:p>
          </p:txBody>
        </p:sp>
        <p:sp>
          <p:nvSpPr>
            <p:cNvPr id="167" name="Text 26">
              <a:extLst>
                <a:ext uri="{FF2B5EF4-FFF2-40B4-BE49-F238E27FC236}">
                  <a16:creationId xmlns:a16="http://schemas.microsoft.com/office/drawing/2014/main" id="{3D547D9D-1441-EE58-9804-620C6EB6656A}"/>
                </a:ext>
              </a:extLst>
            </p:cNvPr>
            <p:cNvSpPr/>
            <p:nvPr/>
          </p:nvSpPr>
          <p:spPr>
            <a:xfrm>
              <a:off x="8473440" y="2450592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PK</a:t>
              </a:r>
              <a:endParaRPr lang="en-US" sz="750" dirty="0"/>
            </a:p>
          </p:txBody>
        </p:sp>
        <p:sp>
          <p:nvSpPr>
            <p:cNvPr id="168" name="Text 27">
              <a:extLst>
                <a:ext uri="{FF2B5EF4-FFF2-40B4-BE49-F238E27FC236}">
                  <a16:creationId xmlns:a16="http://schemas.microsoft.com/office/drawing/2014/main" id="{5A6E16AA-387C-2ECD-DE03-D6EB381D81BE}"/>
                </a:ext>
              </a:extLst>
            </p:cNvPr>
            <p:cNvSpPr/>
            <p:nvPr/>
          </p:nvSpPr>
          <p:spPr>
            <a:xfrm>
              <a:off x="6434328" y="2670048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campaign_name</a:t>
              </a:r>
              <a:endParaRPr lang="en-US" sz="800" dirty="0"/>
            </a:p>
          </p:txBody>
        </p:sp>
        <p:sp>
          <p:nvSpPr>
            <p:cNvPr id="169" name="Text 28">
              <a:extLst>
                <a:ext uri="{FF2B5EF4-FFF2-40B4-BE49-F238E27FC236}">
                  <a16:creationId xmlns:a16="http://schemas.microsoft.com/office/drawing/2014/main" id="{F2462C9B-0BA2-475B-A539-2FE8E2ED8CEC}"/>
                </a:ext>
              </a:extLst>
            </p:cNvPr>
            <p:cNvSpPr/>
            <p:nvPr/>
          </p:nvSpPr>
          <p:spPr>
            <a:xfrm>
              <a:off x="8473440" y="2670048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Diwali / Sankranti</a:t>
              </a:r>
              <a:endParaRPr lang="en-US" sz="750" dirty="0"/>
            </a:p>
          </p:txBody>
        </p:sp>
        <p:sp>
          <p:nvSpPr>
            <p:cNvPr id="170" name="Text 29">
              <a:extLst>
                <a:ext uri="{FF2B5EF4-FFF2-40B4-BE49-F238E27FC236}">
                  <a16:creationId xmlns:a16="http://schemas.microsoft.com/office/drawing/2014/main" id="{67B91A5B-E48F-00A1-CB83-F7C0609F8857}"/>
                </a:ext>
              </a:extLst>
            </p:cNvPr>
            <p:cNvSpPr/>
            <p:nvPr/>
          </p:nvSpPr>
          <p:spPr>
            <a:xfrm>
              <a:off x="6434328" y="2889504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start_date</a:t>
              </a:r>
              <a:endParaRPr lang="en-US" sz="800" dirty="0"/>
            </a:p>
          </p:txBody>
        </p:sp>
        <p:sp>
          <p:nvSpPr>
            <p:cNvPr id="171" name="Text 30">
              <a:extLst>
                <a:ext uri="{FF2B5EF4-FFF2-40B4-BE49-F238E27FC236}">
                  <a16:creationId xmlns:a16="http://schemas.microsoft.com/office/drawing/2014/main" id="{AD694951-FBDA-1B5D-8AF9-7A6B3A72EFFB}"/>
                </a:ext>
              </a:extLst>
            </p:cNvPr>
            <p:cNvSpPr/>
            <p:nvPr/>
          </p:nvSpPr>
          <p:spPr>
            <a:xfrm>
              <a:off x="8473440" y="2889504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Campaign start date</a:t>
              </a:r>
              <a:endParaRPr lang="en-US" sz="750" dirty="0"/>
            </a:p>
          </p:txBody>
        </p:sp>
        <p:sp>
          <p:nvSpPr>
            <p:cNvPr id="172" name="Text 31">
              <a:extLst>
                <a:ext uri="{FF2B5EF4-FFF2-40B4-BE49-F238E27FC236}">
                  <a16:creationId xmlns:a16="http://schemas.microsoft.com/office/drawing/2014/main" id="{A404E35D-68D2-2FC9-01A6-C7EB041CCDE7}"/>
                </a:ext>
              </a:extLst>
            </p:cNvPr>
            <p:cNvSpPr/>
            <p:nvPr/>
          </p:nvSpPr>
          <p:spPr>
            <a:xfrm>
              <a:off x="6434328" y="3108960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end_date</a:t>
              </a:r>
              <a:endParaRPr lang="en-US" sz="800" dirty="0"/>
            </a:p>
          </p:txBody>
        </p:sp>
        <p:sp>
          <p:nvSpPr>
            <p:cNvPr id="173" name="Text 32">
              <a:extLst>
                <a:ext uri="{FF2B5EF4-FFF2-40B4-BE49-F238E27FC236}">
                  <a16:creationId xmlns:a16="http://schemas.microsoft.com/office/drawing/2014/main" id="{9042DC2B-7259-9218-3934-3DB6F6759153}"/>
                </a:ext>
              </a:extLst>
            </p:cNvPr>
            <p:cNvSpPr/>
            <p:nvPr/>
          </p:nvSpPr>
          <p:spPr>
            <a:xfrm>
              <a:off x="8473440" y="3108960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Campaign end date</a:t>
              </a:r>
              <a:endParaRPr lang="en-US" sz="750" dirty="0"/>
            </a:p>
          </p:txBody>
        </p:sp>
        <p:sp>
          <p:nvSpPr>
            <p:cNvPr id="174" name="Shape 33">
              <a:extLst>
                <a:ext uri="{FF2B5EF4-FFF2-40B4-BE49-F238E27FC236}">
                  <a16:creationId xmlns:a16="http://schemas.microsoft.com/office/drawing/2014/main" id="{1078752D-2C82-2A59-EFAA-AC480F0EA560}"/>
                </a:ext>
              </a:extLst>
            </p:cNvPr>
            <p:cNvSpPr/>
            <p:nvPr/>
          </p:nvSpPr>
          <p:spPr>
            <a:xfrm>
              <a:off x="1844040" y="3931920"/>
              <a:ext cx="4251960" cy="20482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175" name="Shape 34">
              <a:extLst>
                <a:ext uri="{FF2B5EF4-FFF2-40B4-BE49-F238E27FC236}">
                  <a16:creationId xmlns:a16="http://schemas.microsoft.com/office/drawing/2014/main" id="{A89EF1E0-5BF8-65A0-7626-314724AAE95F}"/>
                </a:ext>
              </a:extLst>
            </p:cNvPr>
            <p:cNvSpPr/>
            <p:nvPr/>
          </p:nvSpPr>
          <p:spPr>
            <a:xfrm>
              <a:off x="1844040" y="3931920"/>
              <a:ext cx="4251960" cy="347472"/>
            </a:xfrm>
            <a:prstGeom prst="rect">
              <a:avLst/>
            </a:prstGeom>
            <a:solidFill>
              <a:srgbClr val="1E7E4A"/>
            </a:solidFill>
            <a:ln w="12700">
              <a:solidFill>
                <a:srgbClr val="1E7E4A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176" name="Text 35">
              <a:extLst>
                <a:ext uri="{FF2B5EF4-FFF2-40B4-BE49-F238E27FC236}">
                  <a16:creationId xmlns:a16="http://schemas.microsoft.com/office/drawing/2014/main" id="{0DA52A8E-8E4A-C219-0436-578E3BDA425A}"/>
                </a:ext>
              </a:extLst>
            </p:cNvPr>
            <p:cNvSpPr/>
            <p:nvPr/>
          </p:nvSpPr>
          <p:spPr>
            <a:xfrm>
              <a:off x="1935480" y="3968496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 dirty="0">
                  <a:solidFill>
                    <a:srgbClr val="E8A0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dim_products</a:t>
              </a:r>
              <a:endParaRPr lang="en-US" sz="1200" dirty="0"/>
            </a:p>
          </p:txBody>
        </p:sp>
        <p:sp>
          <p:nvSpPr>
            <p:cNvPr id="177" name="Text 36">
              <a:extLst>
                <a:ext uri="{FF2B5EF4-FFF2-40B4-BE49-F238E27FC236}">
                  <a16:creationId xmlns:a16="http://schemas.microsoft.com/office/drawing/2014/main" id="{250D67D3-3831-8949-7FAF-AFF1AA2A9119}"/>
                </a:ext>
              </a:extLst>
            </p:cNvPr>
            <p:cNvSpPr/>
            <p:nvPr/>
          </p:nvSpPr>
          <p:spPr>
            <a:xfrm>
              <a:off x="4587240" y="3995928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 rows · 4 cols</a:t>
              </a:r>
              <a:endParaRPr lang="en-US" sz="850" dirty="0"/>
            </a:p>
          </p:txBody>
        </p:sp>
        <p:sp>
          <p:nvSpPr>
            <p:cNvPr id="178" name="Text 37">
              <a:extLst>
                <a:ext uri="{FF2B5EF4-FFF2-40B4-BE49-F238E27FC236}">
                  <a16:creationId xmlns:a16="http://schemas.microsoft.com/office/drawing/2014/main" id="{940B9EDB-8F1F-9E53-EECB-D364812FE181}"/>
                </a:ext>
              </a:extLst>
            </p:cNvPr>
            <p:cNvSpPr/>
            <p:nvPr/>
          </p:nvSpPr>
          <p:spPr>
            <a:xfrm>
              <a:off x="1935480" y="4334256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Product master with 5 categories.</a:t>
              </a:r>
              <a:endParaRPr lang="en-US" sz="900" dirty="0"/>
            </a:p>
          </p:txBody>
        </p:sp>
        <p:sp>
          <p:nvSpPr>
            <p:cNvPr id="179" name="Text 38">
              <a:extLst>
                <a:ext uri="{FF2B5EF4-FFF2-40B4-BE49-F238E27FC236}">
                  <a16:creationId xmlns:a16="http://schemas.microsoft.com/office/drawing/2014/main" id="{3F5D4051-0D54-9B7A-3536-0BAFEE0A3CD6}"/>
                </a:ext>
              </a:extLst>
            </p:cNvPr>
            <p:cNvSpPr/>
            <p:nvPr/>
          </p:nvSpPr>
          <p:spPr>
            <a:xfrm>
              <a:off x="1981200" y="4626864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product_code</a:t>
              </a:r>
              <a:endParaRPr lang="en-US" sz="800" dirty="0"/>
            </a:p>
          </p:txBody>
        </p:sp>
        <p:sp>
          <p:nvSpPr>
            <p:cNvPr id="180" name="Text 39">
              <a:extLst>
                <a:ext uri="{FF2B5EF4-FFF2-40B4-BE49-F238E27FC236}">
                  <a16:creationId xmlns:a16="http://schemas.microsoft.com/office/drawing/2014/main" id="{88851E7B-C108-1103-57A7-407BE5FCD784}"/>
                </a:ext>
              </a:extLst>
            </p:cNvPr>
            <p:cNvSpPr/>
            <p:nvPr/>
          </p:nvSpPr>
          <p:spPr>
            <a:xfrm>
              <a:off x="4020312" y="4626864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PK</a:t>
              </a:r>
              <a:endParaRPr lang="en-US" sz="750" dirty="0"/>
            </a:p>
          </p:txBody>
        </p:sp>
        <p:sp>
          <p:nvSpPr>
            <p:cNvPr id="181" name="Text 40">
              <a:extLst>
                <a:ext uri="{FF2B5EF4-FFF2-40B4-BE49-F238E27FC236}">
                  <a16:creationId xmlns:a16="http://schemas.microsoft.com/office/drawing/2014/main" id="{E232EA49-F49D-8B38-1470-834A5B454789}"/>
                </a:ext>
              </a:extLst>
            </p:cNvPr>
            <p:cNvSpPr/>
            <p:nvPr/>
          </p:nvSpPr>
          <p:spPr>
            <a:xfrm>
              <a:off x="1981200" y="4846320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product_name</a:t>
              </a:r>
              <a:endParaRPr lang="en-US" sz="800" dirty="0"/>
            </a:p>
          </p:txBody>
        </p:sp>
        <p:sp>
          <p:nvSpPr>
            <p:cNvPr id="182" name="Text 41">
              <a:extLst>
                <a:ext uri="{FF2B5EF4-FFF2-40B4-BE49-F238E27FC236}">
                  <a16:creationId xmlns:a16="http://schemas.microsoft.com/office/drawing/2014/main" id="{29F706E7-2B3C-FA31-498E-65B04886DA5E}"/>
                </a:ext>
              </a:extLst>
            </p:cNvPr>
            <p:cNvSpPr/>
            <p:nvPr/>
          </p:nvSpPr>
          <p:spPr>
            <a:xfrm>
              <a:off x="4020312" y="4846320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 product name</a:t>
              </a:r>
              <a:endParaRPr lang="en-US" sz="750" dirty="0"/>
            </a:p>
          </p:txBody>
        </p:sp>
        <p:sp>
          <p:nvSpPr>
            <p:cNvPr id="183" name="Text 42">
              <a:extLst>
                <a:ext uri="{FF2B5EF4-FFF2-40B4-BE49-F238E27FC236}">
                  <a16:creationId xmlns:a16="http://schemas.microsoft.com/office/drawing/2014/main" id="{B61834BB-4E16-DCDD-AE33-5FBAF7E92508}"/>
                </a:ext>
              </a:extLst>
            </p:cNvPr>
            <p:cNvSpPr/>
            <p:nvPr/>
          </p:nvSpPr>
          <p:spPr>
            <a:xfrm>
              <a:off x="1981200" y="5065776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category</a:t>
              </a:r>
              <a:endParaRPr lang="en-US" sz="800" dirty="0"/>
            </a:p>
          </p:txBody>
        </p:sp>
        <p:sp>
          <p:nvSpPr>
            <p:cNvPr id="184" name="Text 43">
              <a:extLst>
                <a:ext uri="{FF2B5EF4-FFF2-40B4-BE49-F238E27FC236}">
                  <a16:creationId xmlns:a16="http://schemas.microsoft.com/office/drawing/2014/main" id="{343ECDE9-0A54-23B8-0C10-3DC9C9A2DAFD}"/>
                </a:ext>
              </a:extLst>
            </p:cNvPr>
            <p:cNvSpPr/>
            <p:nvPr/>
          </p:nvSpPr>
          <p:spPr>
            <a:xfrm>
              <a:off x="4020312" y="5065776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 product categories</a:t>
              </a:r>
              <a:endParaRPr lang="en-US" sz="750" dirty="0"/>
            </a:p>
          </p:txBody>
        </p:sp>
        <p:sp>
          <p:nvSpPr>
            <p:cNvPr id="185" name="Text 44">
              <a:extLst>
                <a:ext uri="{FF2B5EF4-FFF2-40B4-BE49-F238E27FC236}">
                  <a16:creationId xmlns:a16="http://schemas.microsoft.com/office/drawing/2014/main" id="{3B3EF76E-ED9A-0924-C32F-CEF08FF8CAC4}"/>
                </a:ext>
              </a:extLst>
            </p:cNvPr>
            <p:cNvSpPr/>
            <p:nvPr/>
          </p:nvSpPr>
          <p:spPr>
            <a:xfrm>
              <a:off x="1981200" y="5285232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b="1" dirty="0">
                  <a:solidFill>
                    <a:srgbClr val="E8A0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Total Quantity</a:t>
              </a:r>
              <a:endParaRPr lang="en-US" sz="800" dirty="0"/>
            </a:p>
          </p:txBody>
        </p:sp>
        <p:sp>
          <p:nvSpPr>
            <p:cNvPr id="186" name="Text 45">
              <a:extLst>
                <a:ext uri="{FF2B5EF4-FFF2-40B4-BE49-F238E27FC236}">
                  <a16:creationId xmlns:a16="http://schemas.microsoft.com/office/drawing/2014/main" id="{637FEC55-FD20-47D8-56D9-6BFE9F1EBC6B}"/>
                </a:ext>
              </a:extLst>
            </p:cNvPr>
            <p:cNvSpPr/>
            <p:nvPr/>
          </p:nvSpPr>
          <p:spPr>
            <a:xfrm>
              <a:off x="4020312" y="5285232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★ NULL → filled via COUNTIFS</a:t>
              </a:r>
              <a:endParaRPr lang="en-US" sz="750" dirty="0"/>
            </a:p>
          </p:txBody>
        </p:sp>
        <p:sp>
          <p:nvSpPr>
            <p:cNvPr id="187" name="Shape 46">
              <a:extLst>
                <a:ext uri="{FF2B5EF4-FFF2-40B4-BE49-F238E27FC236}">
                  <a16:creationId xmlns:a16="http://schemas.microsoft.com/office/drawing/2014/main" id="{35FA5A8C-992D-EC4B-C8A2-55CB6A80BF8B}"/>
                </a:ext>
              </a:extLst>
            </p:cNvPr>
            <p:cNvSpPr/>
            <p:nvPr/>
          </p:nvSpPr>
          <p:spPr>
            <a:xfrm>
              <a:off x="6297168" y="3931920"/>
              <a:ext cx="4251960" cy="204825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188" name="Shape 47">
              <a:extLst>
                <a:ext uri="{FF2B5EF4-FFF2-40B4-BE49-F238E27FC236}">
                  <a16:creationId xmlns:a16="http://schemas.microsoft.com/office/drawing/2014/main" id="{87F47A9D-FE84-23FD-01FB-3CD8D8465F4C}"/>
                </a:ext>
              </a:extLst>
            </p:cNvPr>
            <p:cNvSpPr/>
            <p:nvPr/>
          </p:nvSpPr>
          <p:spPr>
            <a:xfrm>
              <a:off x="6297168" y="3931920"/>
              <a:ext cx="4251960" cy="347472"/>
            </a:xfrm>
            <a:prstGeom prst="rect">
              <a:avLst/>
            </a:prstGeom>
            <a:solidFill>
              <a:srgbClr val="5C3A9E"/>
            </a:solidFill>
            <a:ln w="12700">
              <a:solidFill>
                <a:srgbClr val="5C3A9E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189" name="Text 48">
              <a:extLst>
                <a:ext uri="{FF2B5EF4-FFF2-40B4-BE49-F238E27FC236}">
                  <a16:creationId xmlns:a16="http://schemas.microsoft.com/office/drawing/2014/main" id="{090B1E51-0416-31C3-F498-1A867FA3E663}"/>
                </a:ext>
              </a:extLst>
            </p:cNvPr>
            <p:cNvSpPr/>
            <p:nvPr/>
          </p:nvSpPr>
          <p:spPr>
            <a:xfrm>
              <a:off x="6388608" y="3968496"/>
              <a:ext cx="23774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b="1" dirty="0">
                  <a:solidFill>
                    <a:srgbClr val="E8A0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dim_stores</a:t>
              </a:r>
              <a:endParaRPr lang="en-US" sz="1200" dirty="0"/>
            </a:p>
          </p:txBody>
        </p:sp>
        <p:sp>
          <p:nvSpPr>
            <p:cNvPr id="190" name="Text 49">
              <a:extLst>
                <a:ext uri="{FF2B5EF4-FFF2-40B4-BE49-F238E27FC236}">
                  <a16:creationId xmlns:a16="http://schemas.microsoft.com/office/drawing/2014/main" id="{D4EFC023-E6A0-75DE-D9E9-246097EB7579}"/>
                </a:ext>
              </a:extLst>
            </p:cNvPr>
            <p:cNvSpPr/>
            <p:nvPr/>
          </p:nvSpPr>
          <p:spPr>
            <a:xfrm>
              <a:off x="9040368" y="3995928"/>
              <a:ext cx="137160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r">
                <a:buNone/>
              </a:pPr>
              <a:r>
                <a:rPr lang="en-US" sz="85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50 rows · 3 cols</a:t>
              </a:r>
              <a:endParaRPr lang="en-US" sz="850" dirty="0"/>
            </a:p>
          </p:txBody>
        </p:sp>
        <p:sp>
          <p:nvSpPr>
            <p:cNvPr id="191" name="Text 50">
              <a:extLst>
                <a:ext uri="{FF2B5EF4-FFF2-40B4-BE49-F238E27FC236}">
                  <a16:creationId xmlns:a16="http://schemas.microsoft.com/office/drawing/2014/main" id="{51677A54-08C9-917A-77B0-D6FAE3764A8D}"/>
                </a:ext>
              </a:extLst>
            </p:cNvPr>
            <p:cNvSpPr/>
            <p:nvPr/>
          </p:nvSpPr>
          <p:spPr>
            <a:xfrm>
              <a:off x="6388608" y="4334256"/>
              <a:ext cx="397764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 master with 10 cities.</a:t>
              </a:r>
              <a:endParaRPr lang="en-US" sz="900" dirty="0"/>
            </a:p>
          </p:txBody>
        </p:sp>
        <p:sp>
          <p:nvSpPr>
            <p:cNvPr id="192" name="Text 51">
              <a:extLst>
                <a:ext uri="{FF2B5EF4-FFF2-40B4-BE49-F238E27FC236}">
                  <a16:creationId xmlns:a16="http://schemas.microsoft.com/office/drawing/2014/main" id="{71AA1375-1262-9F1C-B2FC-087C604F19AF}"/>
                </a:ext>
              </a:extLst>
            </p:cNvPr>
            <p:cNvSpPr/>
            <p:nvPr/>
          </p:nvSpPr>
          <p:spPr>
            <a:xfrm>
              <a:off x="6434328" y="4626864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store_id</a:t>
              </a:r>
              <a:endParaRPr lang="en-US" sz="800" dirty="0"/>
            </a:p>
          </p:txBody>
        </p:sp>
        <p:sp>
          <p:nvSpPr>
            <p:cNvPr id="193" name="Text 52">
              <a:extLst>
                <a:ext uri="{FF2B5EF4-FFF2-40B4-BE49-F238E27FC236}">
                  <a16:creationId xmlns:a16="http://schemas.microsoft.com/office/drawing/2014/main" id="{6B1A0565-ABC4-FA58-9F3E-650A1484C1CA}"/>
                </a:ext>
              </a:extLst>
            </p:cNvPr>
            <p:cNvSpPr/>
            <p:nvPr/>
          </p:nvSpPr>
          <p:spPr>
            <a:xfrm>
              <a:off x="8473440" y="4626864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PK</a:t>
              </a:r>
              <a:endParaRPr lang="en-US" sz="750" dirty="0"/>
            </a:p>
          </p:txBody>
        </p:sp>
        <p:sp>
          <p:nvSpPr>
            <p:cNvPr id="194" name="Text 53">
              <a:extLst>
                <a:ext uri="{FF2B5EF4-FFF2-40B4-BE49-F238E27FC236}">
                  <a16:creationId xmlns:a16="http://schemas.microsoft.com/office/drawing/2014/main" id="{1C4F3CC5-E29C-AB23-CC40-E5481F5CA52C}"/>
                </a:ext>
              </a:extLst>
            </p:cNvPr>
            <p:cNvSpPr/>
            <p:nvPr/>
          </p:nvSpPr>
          <p:spPr>
            <a:xfrm>
              <a:off x="6434328" y="4846320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city</a:t>
              </a:r>
              <a:endParaRPr lang="en-US" sz="800" dirty="0"/>
            </a:p>
          </p:txBody>
        </p:sp>
        <p:sp>
          <p:nvSpPr>
            <p:cNvPr id="195" name="Text 54">
              <a:extLst>
                <a:ext uri="{FF2B5EF4-FFF2-40B4-BE49-F238E27FC236}">
                  <a16:creationId xmlns:a16="http://schemas.microsoft.com/office/drawing/2014/main" id="{529902A9-547E-8702-C791-6E46906A7179}"/>
                </a:ext>
              </a:extLst>
            </p:cNvPr>
            <p:cNvSpPr/>
            <p:nvPr/>
          </p:nvSpPr>
          <p:spPr>
            <a:xfrm>
              <a:off x="8473440" y="4846320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 South Indian cities</a:t>
              </a:r>
              <a:endParaRPr lang="en-US" sz="750" dirty="0"/>
            </a:p>
          </p:txBody>
        </p:sp>
        <p:sp>
          <p:nvSpPr>
            <p:cNvPr id="196" name="Text 55">
              <a:extLst>
                <a:ext uri="{FF2B5EF4-FFF2-40B4-BE49-F238E27FC236}">
                  <a16:creationId xmlns:a16="http://schemas.microsoft.com/office/drawing/2014/main" id="{1A5861F9-C58F-994C-2967-00DF0AE9AE95}"/>
                </a:ext>
              </a:extLst>
            </p:cNvPr>
            <p:cNvSpPr/>
            <p:nvPr/>
          </p:nvSpPr>
          <p:spPr>
            <a:xfrm>
              <a:off x="6434328" y="5065776"/>
              <a:ext cx="20116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00" b="1" dirty="0">
                  <a:solidFill>
                    <a:srgbClr val="E8A0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• Total Sales Amount</a:t>
              </a:r>
              <a:endParaRPr lang="en-US" sz="800" dirty="0"/>
            </a:p>
          </p:txBody>
        </p:sp>
        <p:sp>
          <p:nvSpPr>
            <p:cNvPr id="197" name="Text 56">
              <a:extLst>
                <a:ext uri="{FF2B5EF4-FFF2-40B4-BE49-F238E27FC236}">
                  <a16:creationId xmlns:a16="http://schemas.microsoft.com/office/drawing/2014/main" id="{D1D622D8-77A9-525E-AAEE-C42540C31415}"/>
                </a:ext>
              </a:extLst>
            </p:cNvPr>
            <p:cNvSpPr/>
            <p:nvPr/>
          </p:nvSpPr>
          <p:spPr>
            <a:xfrm>
              <a:off x="8473440" y="5065776"/>
              <a:ext cx="1965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7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★ NULL → filled via SUMIFS</a:t>
              </a:r>
              <a:endParaRPr lang="en-US" sz="750" dirty="0"/>
            </a:p>
          </p:txBody>
        </p:sp>
        <p:sp>
          <p:nvSpPr>
            <p:cNvPr id="198" name="Text 57">
              <a:extLst>
                <a:ext uri="{FF2B5EF4-FFF2-40B4-BE49-F238E27FC236}">
                  <a16:creationId xmlns:a16="http://schemas.microsoft.com/office/drawing/2014/main" id="{318C24F5-357F-D9C1-4EEF-A305EF5B608E}"/>
                </a:ext>
              </a:extLst>
            </p:cNvPr>
            <p:cNvSpPr/>
            <p:nvPr/>
          </p:nvSpPr>
          <p:spPr>
            <a:xfrm>
              <a:off x="1844040" y="5742432"/>
              <a:ext cx="85039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endParaRPr lang="en-US" sz="850" dirty="0"/>
            </a:p>
          </p:txBody>
        </p:sp>
      </p:grpSp>
      <p:sp>
        <p:nvSpPr>
          <p:cNvPr id="200" name="Rectangle 199">
            <a:extLst>
              <a:ext uri="{FF2B5EF4-FFF2-40B4-BE49-F238E27FC236}">
                <a16:creationId xmlns:a16="http://schemas.microsoft.com/office/drawing/2014/main" id="{E76B5000-B676-FAD9-AF2F-20AAAA96F1C7}"/>
              </a:ext>
            </a:extLst>
          </p:cNvPr>
          <p:cNvSpPr/>
          <p:nvPr/>
        </p:nvSpPr>
        <p:spPr>
          <a:xfrm>
            <a:off x="156972" y="101356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Available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Data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Data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Dictionary</a:t>
            </a:r>
          </a:p>
        </p:txBody>
      </p:sp>
    </p:spTree>
    <p:extLst>
      <p:ext uri="{BB962C8B-B14F-4D97-AF65-F5344CB8AC3E}">
        <p14:creationId xmlns:p14="http://schemas.microsoft.com/office/powerpoint/2010/main" val="33270198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63E9496-5680-1096-D359-271AB60F81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2" y="1042417"/>
            <a:ext cx="8281900" cy="53144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0AAE068-D5C0-97B4-74EC-00A7DAA29B4A}"/>
              </a:ext>
            </a:extLst>
          </p:cNvPr>
          <p:cNvSpPr/>
          <p:nvPr/>
        </p:nvSpPr>
        <p:spPr>
          <a:xfrm>
            <a:off x="156972" y="80859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+mj-ea"/>
                <a:cs typeface="+mj-cs"/>
              </a:rPr>
              <a:t>Metadata &amp; ER Diagram</a:t>
            </a:r>
            <a:endParaRPr lang="hi-IN" sz="3200" b="1" dirty="0">
              <a:solidFill>
                <a:schemeClr val="tx1"/>
              </a:solidFill>
              <a:latin typeface="Century Schoolbook" panose="02040604050505020304" pitchFamily="18" charset="0"/>
              <a:ea typeface="+mj-ea"/>
              <a:cs typeface="+mj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3D93CA-C5AF-34E9-E30A-C79B28CE2AF9}"/>
              </a:ext>
            </a:extLst>
          </p:cNvPr>
          <p:cNvSpPr/>
          <p:nvPr/>
        </p:nvSpPr>
        <p:spPr>
          <a:xfrm>
            <a:off x="11384280" y="6007608"/>
            <a:ext cx="650748" cy="6309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617733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3" descr="People with documents">
            <a:extLst>
              <a:ext uri="{FF2B5EF4-FFF2-40B4-BE49-F238E27FC236}">
                <a16:creationId xmlns:a16="http://schemas.microsoft.com/office/drawing/2014/main" id="{87516C49-7F71-2F99-3352-84BC4D28E4E7}"/>
              </a:ext>
            </a:extLst>
          </p:cNvPr>
          <p:cNvSpPr/>
          <p:nvPr/>
        </p:nvSpPr>
        <p:spPr>
          <a:xfrm>
            <a:off x="-508" y="-9144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90A2">
              <a:alpha val="69999"/>
            </a:srgbClr>
          </a:solidFill>
        </p:spPr>
        <p:txBody>
          <a:bodyPr wrap="square" lIns="0" tIns="0" rIns="0" bIns="0" rtlCol="0"/>
          <a:lstStyle/>
          <a:p>
            <a:r>
              <a:rPr lang="en-US" dirty="0"/>
              <a:t>Data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144FD9-7D0C-826F-3403-378D5D38C346}"/>
              </a:ext>
            </a:extLst>
          </p:cNvPr>
          <p:cNvSpPr/>
          <p:nvPr/>
        </p:nvSpPr>
        <p:spPr>
          <a:xfrm>
            <a:off x="-508" y="0"/>
            <a:ext cx="585724" cy="69311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CD9316-B5CC-C07D-05C2-66E6EA29FCB1}"/>
              </a:ext>
            </a:extLst>
          </p:cNvPr>
          <p:cNvSpPr txBox="1"/>
          <p:nvPr/>
        </p:nvSpPr>
        <p:spPr>
          <a:xfrm>
            <a:off x="1289304" y="2304288"/>
            <a:ext cx="733348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Detailed</a:t>
            </a: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8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Analysis</a:t>
            </a:r>
          </a:p>
          <a:p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Descriptive</a:t>
            </a:r>
            <a:r>
              <a:rPr lang="en-US" sz="2000" dirty="0">
                <a:solidFill>
                  <a:srgbClr val="BD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KPIs · Campaign · Promotions · Categories · Cities · Products</a:t>
            </a:r>
          </a:p>
          <a:p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644704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B6576880-670A-F070-07A4-1BE9BEC90712}"/>
              </a:ext>
            </a:extLst>
          </p:cNvPr>
          <p:cNvGrpSpPr/>
          <p:nvPr/>
        </p:nvGrpSpPr>
        <p:grpSpPr>
          <a:xfrm>
            <a:off x="1125487" y="318568"/>
            <a:ext cx="10142823" cy="5853632"/>
            <a:chOff x="1816608" y="1266444"/>
            <a:chExt cx="8732520" cy="4434840"/>
          </a:xfrm>
        </p:grpSpPr>
        <p:sp>
          <p:nvSpPr>
            <p:cNvPr id="23" name="Text 2">
              <a:extLst>
                <a:ext uri="{FF2B5EF4-FFF2-40B4-BE49-F238E27FC236}">
                  <a16:creationId xmlns:a16="http://schemas.microsoft.com/office/drawing/2014/main" id="{5D5253B0-CEDF-A283-F268-4527ECE46B14}"/>
                </a:ext>
              </a:extLst>
            </p:cNvPr>
            <p:cNvSpPr/>
            <p:nvPr/>
          </p:nvSpPr>
          <p:spPr>
            <a:xfrm>
              <a:off x="1816608" y="1266444"/>
              <a:ext cx="86868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09 | Descriptive Analysis – Key KPIs at a Glance</a:t>
              </a:r>
              <a:endParaRPr lang="en-US" sz="1900" dirty="0"/>
            </a:p>
          </p:txBody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8F85DA93-B089-BF70-0321-C7A7C0763F36}"/>
                </a:ext>
              </a:extLst>
            </p:cNvPr>
            <p:cNvSpPr/>
            <p:nvPr/>
          </p:nvSpPr>
          <p:spPr>
            <a:xfrm>
              <a:off x="1844040" y="1997964"/>
              <a:ext cx="2743200" cy="1078992"/>
            </a:xfrm>
            <a:prstGeom prst="rect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25" name="Shape 4">
              <a:extLst>
                <a:ext uri="{FF2B5EF4-FFF2-40B4-BE49-F238E27FC236}">
                  <a16:creationId xmlns:a16="http://schemas.microsoft.com/office/drawing/2014/main" id="{876B83F0-1FDD-158A-9B40-63B8555DB8C7}"/>
                </a:ext>
              </a:extLst>
            </p:cNvPr>
            <p:cNvSpPr/>
            <p:nvPr/>
          </p:nvSpPr>
          <p:spPr>
            <a:xfrm>
              <a:off x="1844040" y="1997964"/>
              <a:ext cx="2743200" cy="36576"/>
            </a:xfrm>
            <a:prstGeom prst="rect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30" name="Text 5">
              <a:extLst>
                <a:ext uri="{FF2B5EF4-FFF2-40B4-BE49-F238E27FC236}">
                  <a16:creationId xmlns:a16="http://schemas.microsoft.com/office/drawing/2014/main" id="{BAAD8CF2-0548-6AD8-8AA4-B0ED5A713F27}"/>
                </a:ext>
              </a:extLst>
            </p:cNvPr>
            <p:cNvSpPr/>
            <p:nvPr/>
          </p:nvSpPr>
          <p:spPr>
            <a:xfrm>
              <a:off x="1844040" y="2089404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₹24.8 Cr</a:t>
              </a:r>
              <a:endParaRPr lang="en-US" sz="2400" dirty="0"/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785B5812-BA11-3FA1-94B4-B27B8FA30005}"/>
                </a:ext>
              </a:extLst>
            </p:cNvPr>
            <p:cNvSpPr/>
            <p:nvPr/>
          </p:nvSpPr>
          <p:spPr>
            <a:xfrm>
              <a:off x="1844040" y="269290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Discounted Revenue</a:t>
              </a:r>
              <a:endParaRPr lang="en-US" sz="1000" dirty="0"/>
            </a:p>
          </p:txBody>
        </p:sp>
        <p:sp>
          <p:nvSpPr>
            <p:cNvPr id="32" name="Shape 7">
              <a:extLst>
                <a:ext uri="{FF2B5EF4-FFF2-40B4-BE49-F238E27FC236}">
                  <a16:creationId xmlns:a16="http://schemas.microsoft.com/office/drawing/2014/main" id="{0F720D63-9C5B-DA85-148F-A2E8D05B509E}"/>
                </a:ext>
              </a:extLst>
            </p:cNvPr>
            <p:cNvSpPr/>
            <p:nvPr/>
          </p:nvSpPr>
          <p:spPr>
            <a:xfrm>
              <a:off x="4815840" y="1997964"/>
              <a:ext cx="2743200" cy="1078992"/>
            </a:xfrm>
            <a:prstGeom prst="rect">
              <a:avLst/>
            </a:prstGeom>
            <a:solidFill>
              <a:srgbClr val="1E7E4A"/>
            </a:solidFill>
            <a:ln w="12700">
              <a:solidFill>
                <a:srgbClr val="1E7E4A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33" name="Shape 8">
              <a:extLst>
                <a:ext uri="{FF2B5EF4-FFF2-40B4-BE49-F238E27FC236}">
                  <a16:creationId xmlns:a16="http://schemas.microsoft.com/office/drawing/2014/main" id="{E382AB73-5C64-3453-F951-B6490379B160}"/>
                </a:ext>
              </a:extLst>
            </p:cNvPr>
            <p:cNvSpPr/>
            <p:nvPr/>
          </p:nvSpPr>
          <p:spPr>
            <a:xfrm>
              <a:off x="4815840" y="1997964"/>
              <a:ext cx="2743200" cy="36576"/>
            </a:xfrm>
            <a:prstGeom prst="rect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4BEBD579-A374-61EB-843E-C4C8E57D258F}"/>
                </a:ext>
              </a:extLst>
            </p:cNvPr>
            <p:cNvSpPr/>
            <p:nvPr/>
          </p:nvSpPr>
          <p:spPr>
            <a:xfrm>
              <a:off x="4815840" y="2089404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₹9.99 Cr</a:t>
              </a:r>
              <a:endParaRPr lang="en-US" sz="2400" dirty="0"/>
            </a:p>
          </p:txBody>
        </p:sp>
        <p:sp>
          <p:nvSpPr>
            <p:cNvPr id="36" name="Text 10">
              <a:extLst>
                <a:ext uri="{FF2B5EF4-FFF2-40B4-BE49-F238E27FC236}">
                  <a16:creationId xmlns:a16="http://schemas.microsoft.com/office/drawing/2014/main" id="{82751E62-4AB6-FC68-8CC1-14EEFBE723B5}"/>
                </a:ext>
              </a:extLst>
            </p:cNvPr>
            <p:cNvSpPr/>
            <p:nvPr/>
          </p:nvSpPr>
          <p:spPr>
            <a:xfrm>
              <a:off x="4815840" y="269290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Total Base Revenue</a:t>
              </a:r>
              <a:endParaRPr lang="en-US" sz="1000" dirty="0"/>
            </a:p>
          </p:txBody>
        </p:sp>
        <p:sp>
          <p:nvSpPr>
            <p:cNvPr id="37" name="Shape 11">
              <a:extLst>
                <a:ext uri="{FF2B5EF4-FFF2-40B4-BE49-F238E27FC236}">
                  <a16:creationId xmlns:a16="http://schemas.microsoft.com/office/drawing/2014/main" id="{3A86524E-40AD-022E-C6E1-C75D65D0448F}"/>
                </a:ext>
              </a:extLst>
            </p:cNvPr>
            <p:cNvSpPr/>
            <p:nvPr/>
          </p:nvSpPr>
          <p:spPr>
            <a:xfrm>
              <a:off x="7787640" y="1997964"/>
              <a:ext cx="2743200" cy="1078992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38" name="Shape 12">
              <a:extLst>
                <a:ext uri="{FF2B5EF4-FFF2-40B4-BE49-F238E27FC236}">
                  <a16:creationId xmlns:a16="http://schemas.microsoft.com/office/drawing/2014/main" id="{93CFCE88-13DF-A3B1-FDF2-5054E50A63BE}"/>
                </a:ext>
              </a:extLst>
            </p:cNvPr>
            <p:cNvSpPr/>
            <p:nvPr/>
          </p:nvSpPr>
          <p:spPr>
            <a:xfrm>
              <a:off x="7787640" y="1997964"/>
              <a:ext cx="2743200" cy="36576"/>
            </a:xfrm>
            <a:prstGeom prst="rect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39" name="Text 13">
              <a:extLst>
                <a:ext uri="{FF2B5EF4-FFF2-40B4-BE49-F238E27FC236}">
                  <a16:creationId xmlns:a16="http://schemas.microsoft.com/office/drawing/2014/main" id="{84130324-848B-B433-7C2F-5418502E5F95}"/>
                </a:ext>
              </a:extLst>
            </p:cNvPr>
            <p:cNvSpPr/>
            <p:nvPr/>
          </p:nvSpPr>
          <p:spPr>
            <a:xfrm>
              <a:off x="7787640" y="2089404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106.2%</a:t>
              </a:r>
              <a:endParaRPr lang="en-US" sz="2400" dirty="0"/>
            </a:p>
          </p:txBody>
        </p:sp>
        <p:sp>
          <p:nvSpPr>
            <p:cNvPr id="40" name="Text 14">
              <a:extLst>
                <a:ext uri="{FF2B5EF4-FFF2-40B4-BE49-F238E27FC236}">
                  <a16:creationId xmlns:a16="http://schemas.microsoft.com/office/drawing/2014/main" id="{6821ED60-ABF7-AE96-FB73-AC07A0DC26C2}"/>
                </a:ext>
              </a:extLst>
            </p:cNvPr>
            <p:cNvSpPr/>
            <p:nvPr/>
          </p:nvSpPr>
          <p:spPr>
            <a:xfrm>
              <a:off x="7787640" y="269290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Sales Growth</a:t>
              </a:r>
              <a:endParaRPr lang="en-US" sz="1000" dirty="0"/>
            </a:p>
          </p:txBody>
        </p:sp>
        <p:sp>
          <p:nvSpPr>
            <p:cNvPr id="41" name="Shape 15">
              <a:extLst>
                <a:ext uri="{FF2B5EF4-FFF2-40B4-BE49-F238E27FC236}">
                  <a16:creationId xmlns:a16="http://schemas.microsoft.com/office/drawing/2014/main" id="{06536BE9-9428-D1A5-D74B-3D782A6AB091}"/>
                </a:ext>
              </a:extLst>
            </p:cNvPr>
            <p:cNvSpPr/>
            <p:nvPr/>
          </p:nvSpPr>
          <p:spPr>
            <a:xfrm>
              <a:off x="1844040" y="3186684"/>
              <a:ext cx="2743200" cy="1078992"/>
            </a:xfrm>
            <a:prstGeom prst="rect">
              <a:avLst/>
            </a:prstGeom>
            <a:solidFill>
              <a:srgbClr val="5C3A9E"/>
            </a:solidFill>
            <a:ln w="12700">
              <a:solidFill>
                <a:srgbClr val="5C3A9E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AE992234-DE0A-2067-CAB0-4481605DA66C}"/>
                </a:ext>
              </a:extLst>
            </p:cNvPr>
            <p:cNvSpPr/>
            <p:nvPr/>
          </p:nvSpPr>
          <p:spPr>
            <a:xfrm>
              <a:off x="1844040" y="3186684"/>
              <a:ext cx="2743200" cy="36576"/>
            </a:xfrm>
            <a:prstGeom prst="rect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46" name="Text 17">
              <a:extLst>
                <a:ext uri="{FF2B5EF4-FFF2-40B4-BE49-F238E27FC236}">
                  <a16:creationId xmlns:a16="http://schemas.microsoft.com/office/drawing/2014/main" id="{627BCF2D-3A0A-6BDC-102E-790762E5478C}"/>
                </a:ext>
              </a:extLst>
            </p:cNvPr>
            <p:cNvSpPr/>
            <p:nvPr/>
          </p:nvSpPr>
          <p:spPr>
            <a:xfrm>
              <a:off x="1844040" y="3278124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1,500</a:t>
              </a:r>
              <a:endParaRPr lang="en-US" sz="2400" dirty="0"/>
            </a:p>
          </p:txBody>
        </p:sp>
        <p:sp>
          <p:nvSpPr>
            <p:cNvPr id="47" name="Text 18">
              <a:extLst>
                <a:ext uri="{FF2B5EF4-FFF2-40B4-BE49-F238E27FC236}">
                  <a16:creationId xmlns:a16="http://schemas.microsoft.com/office/drawing/2014/main" id="{E3120833-A23F-51A9-4259-8B0D2815A3A7}"/>
                </a:ext>
              </a:extLst>
            </p:cNvPr>
            <p:cNvSpPr/>
            <p:nvPr/>
          </p:nvSpPr>
          <p:spPr>
            <a:xfrm>
              <a:off x="1844040" y="388162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Events</a:t>
              </a:r>
              <a:endParaRPr lang="en-US" sz="1000" dirty="0"/>
            </a:p>
          </p:txBody>
        </p:sp>
        <p:sp>
          <p:nvSpPr>
            <p:cNvPr id="50" name="Shape 19">
              <a:extLst>
                <a:ext uri="{FF2B5EF4-FFF2-40B4-BE49-F238E27FC236}">
                  <a16:creationId xmlns:a16="http://schemas.microsoft.com/office/drawing/2014/main" id="{90E81090-D892-31BB-2303-D745240A25BD}"/>
                </a:ext>
              </a:extLst>
            </p:cNvPr>
            <p:cNvSpPr/>
            <p:nvPr/>
          </p:nvSpPr>
          <p:spPr>
            <a:xfrm>
              <a:off x="4815840" y="3186684"/>
              <a:ext cx="2743200" cy="1078992"/>
            </a:xfrm>
            <a:prstGeom prst="rect">
              <a:avLst/>
            </a:prstGeom>
            <a:solidFill>
              <a:srgbClr val="1B4F72"/>
            </a:solidFill>
            <a:ln w="12700">
              <a:solidFill>
                <a:srgbClr val="1B4F72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51" name="Shape 20">
              <a:extLst>
                <a:ext uri="{FF2B5EF4-FFF2-40B4-BE49-F238E27FC236}">
                  <a16:creationId xmlns:a16="http://schemas.microsoft.com/office/drawing/2014/main" id="{0E6A39A3-CAED-67B8-328D-CAFC38BE205F}"/>
                </a:ext>
              </a:extLst>
            </p:cNvPr>
            <p:cNvSpPr/>
            <p:nvPr/>
          </p:nvSpPr>
          <p:spPr>
            <a:xfrm>
              <a:off x="4815840" y="3186684"/>
              <a:ext cx="2743200" cy="36576"/>
            </a:xfrm>
            <a:prstGeom prst="rect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52" name="Text 21">
              <a:extLst>
                <a:ext uri="{FF2B5EF4-FFF2-40B4-BE49-F238E27FC236}">
                  <a16:creationId xmlns:a16="http://schemas.microsoft.com/office/drawing/2014/main" id="{71A5E70A-86AB-08C1-9519-0EC47EDB61AE}"/>
                </a:ext>
              </a:extLst>
            </p:cNvPr>
            <p:cNvSpPr/>
            <p:nvPr/>
          </p:nvSpPr>
          <p:spPr>
            <a:xfrm>
              <a:off x="4815840" y="3278124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50</a:t>
              </a:r>
              <a:endParaRPr lang="en-US" sz="2400" dirty="0"/>
            </a:p>
          </p:txBody>
        </p:sp>
        <p:sp>
          <p:nvSpPr>
            <p:cNvPr id="54" name="Text 22">
              <a:extLst>
                <a:ext uri="{FF2B5EF4-FFF2-40B4-BE49-F238E27FC236}">
                  <a16:creationId xmlns:a16="http://schemas.microsoft.com/office/drawing/2014/main" id="{1D47BBB5-CF55-AF1E-2590-2F1A1BB49C50}"/>
                </a:ext>
              </a:extLst>
            </p:cNvPr>
            <p:cNvSpPr/>
            <p:nvPr/>
          </p:nvSpPr>
          <p:spPr>
            <a:xfrm>
              <a:off x="4815840" y="388162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Stores</a:t>
              </a:r>
              <a:endParaRPr lang="en-US" sz="1000" dirty="0"/>
            </a:p>
          </p:txBody>
        </p:sp>
        <p:sp>
          <p:nvSpPr>
            <p:cNvPr id="55" name="Shape 23">
              <a:extLst>
                <a:ext uri="{FF2B5EF4-FFF2-40B4-BE49-F238E27FC236}">
                  <a16:creationId xmlns:a16="http://schemas.microsoft.com/office/drawing/2014/main" id="{D581D733-90A3-4815-8750-86BBCE4EB730}"/>
                </a:ext>
              </a:extLst>
            </p:cNvPr>
            <p:cNvSpPr/>
            <p:nvPr/>
          </p:nvSpPr>
          <p:spPr>
            <a:xfrm>
              <a:off x="7787640" y="3186684"/>
              <a:ext cx="2743200" cy="1078992"/>
            </a:xfrm>
            <a:prstGeom prst="rect">
              <a:avLst/>
            </a:prstGeom>
            <a:solidFill>
              <a:srgbClr val="C45C14"/>
            </a:solidFill>
            <a:ln w="12700">
              <a:solidFill>
                <a:srgbClr val="C45C14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56" name="Shape 24">
              <a:extLst>
                <a:ext uri="{FF2B5EF4-FFF2-40B4-BE49-F238E27FC236}">
                  <a16:creationId xmlns:a16="http://schemas.microsoft.com/office/drawing/2014/main" id="{5F58ED31-A9E6-6CB2-BA64-E0F1CC59B2E9}"/>
                </a:ext>
              </a:extLst>
            </p:cNvPr>
            <p:cNvSpPr/>
            <p:nvPr/>
          </p:nvSpPr>
          <p:spPr>
            <a:xfrm>
              <a:off x="7787640" y="3186684"/>
              <a:ext cx="2743200" cy="36576"/>
            </a:xfrm>
            <a:prstGeom prst="rect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26CEDDF-379F-FBCF-EF16-7EC91CFD46E9}"/>
                </a:ext>
              </a:extLst>
            </p:cNvPr>
            <p:cNvSpPr/>
            <p:nvPr/>
          </p:nvSpPr>
          <p:spPr>
            <a:xfrm>
              <a:off x="7787640" y="3278124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10</a:t>
              </a:r>
              <a:endParaRPr lang="en-US" sz="24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094A4EE0-380D-0E75-FDA0-5F03AAA9E44D}"/>
                </a:ext>
              </a:extLst>
            </p:cNvPr>
            <p:cNvSpPr/>
            <p:nvPr/>
          </p:nvSpPr>
          <p:spPr>
            <a:xfrm>
              <a:off x="7787640" y="3881628"/>
              <a:ext cx="274320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Cities</a:t>
              </a:r>
              <a:endParaRPr lang="en-US" sz="1000" dirty="0"/>
            </a:p>
          </p:txBody>
        </p:sp>
        <p:sp>
          <p:nvSpPr>
            <p:cNvPr id="60" name="Shape 27">
              <a:extLst>
                <a:ext uri="{FF2B5EF4-FFF2-40B4-BE49-F238E27FC236}">
                  <a16:creationId xmlns:a16="http://schemas.microsoft.com/office/drawing/2014/main" id="{EC9ED6C5-9073-F499-D9CB-00C704D34E2F}"/>
                </a:ext>
              </a:extLst>
            </p:cNvPr>
            <p:cNvSpPr/>
            <p:nvPr/>
          </p:nvSpPr>
          <p:spPr>
            <a:xfrm>
              <a:off x="1844040" y="4430268"/>
              <a:ext cx="8503920" cy="36576"/>
            </a:xfrm>
            <a:prstGeom prst="rect">
              <a:avLst/>
            </a:prstGeom>
            <a:solidFill>
              <a:srgbClr val="DCE5F0"/>
            </a:solidFill>
            <a:ln w="12700">
              <a:solidFill>
                <a:srgbClr val="DCE5F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62" name="Text 28">
              <a:extLst>
                <a:ext uri="{FF2B5EF4-FFF2-40B4-BE49-F238E27FC236}">
                  <a16:creationId xmlns:a16="http://schemas.microsoft.com/office/drawing/2014/main" id="{FB58D4FE-9E34-6A4D-C40F-14BAE12067CE}"/>
                </a:ext>
              </a:extLst>
            </p:cNvPr>
            <p:cNvSpPr/>
            <p:nvPr/>
          </p:nvSpPr>
          <p:spPr>
            <a:xfrm>
              <a:off x="1844040" y="4539996"/>
              <a:ext cx="8503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1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Facts at a Glance</a:t>
              </a:r>
              <a:endParaRPr lang="en-US" sz="1100" dirty="0"/>
            </a:p>
          </p:txBody>
        </p:sp>
        <p:sp>
          <p:nvSpPr>
            <p:cNvPr id="63" name="Shape 29">
              <a:extLst>
                <a:ext uri="{FF2B5EF4-FFF2-40B4-BE49-F238E27FC236}">
                  <a16:creationId xmlns:a16="http://schemas.microsoft.com/office/drawing/2014/main" id="{9F07166F-C22D-E166-77F9-CC14EC733031}"/>
                </a:ext>
              </a:extLst>
            </p:cNvPr>
            <p:cNvSpPr/>
            <p:nvPr/>
          </p:nvSpPr>
          <p:spPr>
            <a:xfrm>
              <a:off x="1844040" y="4860036"/>
              <a:ext cx="425196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64" name="Shape 30">
              <a:extLst>
                <a:ext uri="{FF2B5EF4-FFF2-40B4-BE49-F238E27FC236}">
                  <a16:creationId xmlns:a16="http://schemas.microsoft.com/office/drawing/2014/main" id="{6BFD2B1B-CE9B-BE14-1E25-B8BE7BD741DA}"/>
                </a:ext>
              </a:extLst>
            </p:cNvPr>
            <p:cNvSpPr/>
            <p:nvPr/>
          </p:nvSpPr>
          <p:spPr>
            <a:xfrm>
              <a:off x="1844040" y="4860036"/>
              <a:ext cx="64008" cy="384048"/>
            </a:xfrm>
            <a:prstGeom prst="rect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071CD2EF-2E36-E01A-BB6C-29C94C6FDAD7}"/>
                </a:ext>
              </a:extLst>
            </p:cNvPr>
            <p:cNvSpPr/>
            <p:nvPr/>
          </p:nvSpPr>
          <p:spPr>
            <a:xfrm>
              <a:off x="2008632" y="4933188"/>
              <a:ext cx="39502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2 campaigns ran across Nov 2023–Jan 2024</a:t>
              </a:r>
              <a:endParaRPr lang="en-US" sz="950" dirty="0"/>
            </a:p>
          </p:txBody>
        </p:sp>
        <p:sp>
          <p:nvSpPr>
            <p:cNvPr id="66" name="Shape 32">
              <a:extLst>
                <a:ext uri="{FF2B5EF4-FFF2-40B4-BE49-F238E27FC236}">
                  <a16:creationId xmlns:a16="http://schemas.microsoft.com/office/drawing/2014/main" id="{12A1D633-8213-C013-6EE1-96C5DF05AEF5}"/>
                </a:ext>
              </a:extLst>
            </p:cNvPr>
            <p:cNvSpPr/>
            <p:nvPr/>
          </p:nvSpPr>
          <p:spPr>
            <a:xfrm>
              <a:off x="6297168" y="4860036"/>
              <a:ext cx="425196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67" name="Shape 33">
              <a:extLst>
                <a:ext uri="{FF2B5EF4-FFF2-40B4-BE49-F238E27FC236}">
                  <a16:creationId xmlns:a16="http://schemas.microsoft.com/office/drawing/2014/main" id="{B65E566C-F709-2060-6371-906DF6A0D066}"/>
                </a:ext>
              </a:extLst>
            </p:cNvPr>
            <p:cNvSpPr/>
            <p:nvPr/>
          </p:nvSpPr>
          <p:spPr>
            <a:xfrm>
              <a:off x="6297168" y="4860036"/>
              <a:ext cx="64008" cy="384048"/>
            </a:xfrm>
            <a:prstGeom prst="rect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206E92C1-71A4-17E4-9B20-C9A2E7ABDF00}"/>
                </a:ext>
              </a:extLst>
            </p:cNvPr>
            <p:cNvSpPr/>
            <p:nvPr/>
          </p:nvSpPr>
          <p:spPr>
            <a:xfrm>
              <a:off x="6461760" y="4933188"/>
              <a:ext cx="39502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5 promo types: BOGOF, 500 Cashback, 33%/50%/25% OFF</a:t>
              </a:r>
              <a:endParaRPr lang="en-US" sz="950" dirty="0"/>
            </a:p>
          </p:txBody>
        </p:sp>
        <p:sp>
          <p:nvSpPr>
            <p:cNvPr id="69" name="Shape 35">
              <a:extLst>
                <a:ext uri="{FF2B5EF4-FFF2-40B4-BE49-F238E27FC236}">
                  <a16:creationId xmlns:a16="http://schemas.microsoft.com/office/drawing/2014/main" id="{55975383-2C16-1D56-E3F9-1984EE5629F7}"/>
                </a:ext>
              </a:extLst>
            </p:cNvPr>
            <p:cNvSpPr/>
            <p:nvPr/>
          </p:nvSpPr>
          <p:spPr>
            <a:xfrm>
              <a:off x="1844040" y="5317236"/>
              <a:ext cx="425196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A17738C9-FE4C-15E1-D46A-E34EA797EDF1}"/>
                </a:ext>
              </a:extLst>
            </p:cNvPr>
            <p:cNvSpPr/>
            <p:nvPr/>
          </p:nvSpPr>
          <p:spPr>
            <a:xfrm>
              <a:off x="1844040" y="5317236"/>
              <a:ext cx="64008" cy="384048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6B267DF1-BB84-EF18-58E9-6E2C38B09E4B}"/>
                </a:ext>
              </a:extLst>
            </p:cNvPr>
            <p:cNvSpPr/>
            <p:nvPr/>
          </p:nvSpPr>
          <p:spPr>
            <a:xfrm>
              <a:off x="2008632" y="5390388"/>
              <a:ext cx="39502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15 products across 5 categories in 10 cities</a:t>
              </a:r>
              <a:endParaRPr lang="en-US" sz="95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B94DB5FE-9678-28AD-A128-547F308C7B8D}"/>
                </a:ext>
              </a:extLst>
            </p:cNvPr>
            <p:cNvSpPr/>
            <p:nvPr/>
          </p:nvSpPr>
          <p:spPr>
            <a:xfrm>
              <a:off x="6297168" y="5317236"/>
              <a:ext cx="4251960" cy="38404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01838E-DAC7-DE95-FA37-CEA39B868DA7}"/>
                </a:ext>
              </a:extLst>
            </p:cNvPr>
            <p:cNvSpPr/>
            <p:nvPr/>
          </p:nvSpPr>
          <p:spPr>
            <a:xfrm>
              <a:off x="6297168" y="5317236"/>
              <a:ext cx="64008" cy="384048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0F9730A5-BEEC-76EC-BEF5-94EDBD788927}"/>
                </a:ext>
              </a:extLst>
            </p:cNvPr>
            <p:cNvSpPr/>
            <p:nvPr/>
          </p:nvSpPr>
          <p:spPr>
            <a:xfrm>
              <a:off x="6461760" y="5390388"/>
              <a:ext cx="39502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5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 400 events showed negative growth (25% OFF promo)</a:t>
              </a:r>
              <a:endParaRPr lang="en-US" sz="950" dirty="0"/>
            </a:p>
          </p:txBody>
        </p:sp>
      </p:grpSp>
      <p:sp>
        <p:nvSpPr>
          <p:cNvPr id="76" name="Rectangle 75">
            <a:extLst>
              <a:ext uri="{FF2B5EF4-FFF2-40B4-BE49-F238E27FC236}">
                <a16:creationId xmlns:a16="http://schemas.microsoft.com/office/drawing/2014/main" id="{7C31B47B-81BF-1906-E279-50EC15C1286F}"/>
              </a:ext>
            </a:extLst>
          </p:cNvPr>
          <p:cNvSpPr/>
          <p:nvPr/>
        </p:nvSpPr>
        <p:spPr>
          <a:xfrm>
            <a:off x="231318" y="166045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Descriptive Analysis – Key KPIs at a Glance</a:t>
            </a:r>
            <a:endParaRPr lang="en-US" sz="32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0850ED-5B65-BDB1-2425-09E3D8BF82AB}"/>
              </a:ext>
            </a:extLst>
          </p:cNvPr>
          <p:cNvSpPr/>
          <p:nvPr/>
        </p:nvSpPr>
        <p:spPr>
          <a:xfrm>
            <a:off x="11448288" y="6099784"/>
            <a:ext cx="576072" cy="5069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065904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C87A133E-2031-3F43-FD95-E11163606517}"/>
              </a:ext>
            </a:extLst>
          </p:cNvPr>
          <p:cNvGrpSpPr/>
          <p:nvPr/>
        </p:nvGrpSpPr>
        <p:grpSpPr>
          <a:xfrm>
            <a:off x="754563" y="359177"/>
            <a:ext cx="10897591" cy="5812007"/>
            <a:chOff x="1816608" y="1060704"/>
            <a:chExt cx="8823960" cy="4846320"/>
          </a:xfrm>
        </p:grpSpPr>
        <p:sp>
          <p:nvSpPr>
            <p:cNvPr id="12" name="Text 2">
              <a:extLst>
                <a:ext uri="{FF2B5EF4-FFF2-40B4-BE49-F238E27FC236}">
                  <a16:creationId xmlns:a16="http://schemas.microsoft.com/office/drawing/2014/main" id="{705A4293-6839-6040-E619-DBF2DCE03786}"/>
                </a:ext>
              </a:extLst>
            </p:cNvPr>
            <p:cNvSpPr/>
            <p:nvPr/>
          </p:nvSpPr>
          <p:spPr>
            <a:xfrm>
              <a:off x="1816608" y="1060704"/>
              <a:ext cx="86868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Campaign Performance – Diwali vs Sankranti</a:t>
              </a:r>
              <a:endParaRPr lang="en-US" sz="1900" dirty="0"/>
            </a:p>
          </p:txBody>
        </p:sp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730D6437-B679-6348-C768-D88D970AE51F}"/>
                </a:ext>
              </a:extLst>
            </p:cNvPr>
            <p:cNvSpPr/>
            <p:nvPr/>
          </p:nvSpPr>
          <p:spPr>
            <a:xfrm>
              <a:off x="1844040" y="1792224"/>
              <a:ext cx="4224528" cy="2240280"/>
            </a:xfrm>
            <a:prstGeom prst="rect">
              <a:avLst/>
            </a:prstGeom>
            <a:solidFill>
              <a:srgbClr val="7030A0"/>
            </a:solidFill>
            <a:ln w="12700">
              <a:solidFill>
                <a:srgbClr val="1B3A5C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14" name="Text 4">
              <a:extLst>
                <a:ext uri="{FF2B5EF4-FFF2-40B4-BE49-F238E27FC236}">
                  <a16:creationId xmlns:a16="http://schemas.microsoft.com/office/drawing/2014/main" id="{9B32D39C-F322-306C-CA6D-3FD8AA581332}"/>
                </a:ext>
              </a:extLst>
            </p:cNvPr>
            <p:cNvSpPr/>
            <p:nvPr/>
          </p:nvSpPr>
          <p:spPr>
            <a:xfrm>
              <a:off x="1981200" y="1847088"/>
              <a:ext cx="3931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Diwali 2023</a:t>
              </a:r>
              <a:endParaRPr lang="en-US" sz="1800" dirty="0"/>
            </a:p>
          </p:txBody>
        </p:sp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51359606-D287-8992-4C3A-9332ABFA3AB1}"/>
                </a:ext>
              </a:extLst>
            </p:cNvPr>
            <p:cNvSpPr/>
            <p:nvPr/>
          </p:nvSpPr>
          <p:spPr>
            <a:xfrm>
              <a:off x="1981200" y="2395728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00" dirty="0">
                  <a:solidFill>
                    <a:srgbClr val="BDD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Nov 12–18, 2023</a:t>
              </a:r>
              <a:endParaRPr lang="en-US" sz="1000" dirty="0"/>
            </a:p>
          </p:txBody>
        </p:sp>
        <p:sp>
          <p:nvSpPr>
            <p:cNvPr id="16" name="Text 6">
              <a:extLst>
                <a:ext uri="{FF2B5EF4-FFF2-40B4-BE49-F238E27FC236}">
                  <a16:creationId xmlns:a16="http://schemas.microsoft.com/office/drawing/2014/main" id="{C7030C9D-1ADC-2730-E054-AC182B0C1784}"/>
                </a:ext>
              </a:extLst>
            </p:cNvPr>
            <p:cNvSpPr/>
            <p:nvPr/>
          </p:nvSpPr>
          <p:spPr>
            <a:xfrm>
              <a:off x="1981200" y="2706624"/>
              <a:ext cx="39319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600" b="1" dirty="0">
                  <a:solidFill>
                    <a:srgbClr val="E8A02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43.12 M</a:t>
              </a:r>
              <a:endParaRPr lang="en-US" sz="2600" dirty="0"/>
            </a:p>
          </p:txBody>
        </p:sp>
        <p:sp>
          <p:nvSpPr>
            <p:cNvPr id="17" name="Text 7">
              <a:extLst>
                <a:ext uri="{FF2B5EF4-FFF2-40B4-BE49-F238E27FC236}">
                  <a16:creationId xmlns:a16="http://schemas.microsoft.com/office/drawing/2014/main" id="{A8BD57A7-82C3-E584-9DC1-85A2AD798F8E}"/>
                </a:ext>
              </a:extLst>
            </p:cNvPr>
            <p:cNvSpPr/>
            <p:nvPr/>
          </p:nvSpPr>
          <p:spPr>
            <a:xfrm>
              <a:off x="1981200" y="3328416"/>
              <a:ext cx="39319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Discounted Revenue</a:t>
              </a:r>
              <a:endParaRPr lang="en-US" sz="900" dirty="0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EC44FD7C-B37E-0E14-9FC8-29D20B64868A}"/>
                </a:ext>
              </a:extLst>
            </p:cNvPr>
            <p:cNvSpPr/>
            <p:nvPr/>
          </p:nvSpPr>
          <p:spPr>
            <a:xfrm>
              <a:off x="2026920" y="4169664"/>
              <a:ext cx="13716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Events: </a:t>
              </a:r>
              <a:endParaRPr lang="en-US" sz="9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B01F75C0-71A6-7478-0E81-E5DE2FA5809E}"/>
                </a:ext>
              </a:extLst>
            </p:cNvPr>
            <p:cNvSpPr/>
            <p:nvPr/>
          </p:nvSpPr>
          <p:spPr>
            <a:xfrm>
              <a:off x="3261360" y="4169664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750 events</a:t>
              </a:r>
              <a:endParaRPr lang="en-US" sz="900" dirty="0"/>
            </a:p>
          </p:txBody>
        </p:sp>
        <p:sp>
          <p:nvSpPr>
            <p:cNvPr id="20" name="Text 10">
              <a:extLst>
                <a:ext uri="{FF2B5EF4-FFF2-40B4-BE49-F238E27FC236}">
                  <a16:creationId xmlns:a16="http://schemas.microsoft.com/office/drawing/2014/main" id="{1BD4414E-735C-C089-E3E8-9508B36D69C7}"/>
                </a:ext>
              </a:extLst>
            </p:cNvPr>
            <p:cNvSpPr/>
            <p:nvPr/>
          </p:nvSpPr>
          <p:spPr>
            <a:xfrm>
              <a:off x="2026920" y="4462272"/>
              <a:ext cx="13716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Campaign ID: </a:t>
              </a:r>
              <a:endParaRPr lang="en-US" sz="900" dirty="0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5086B038-BFD9-F071-107D-7F7BFA5B4291}"/>
                </a:ext>
              </a:extLst>
            </p:cNvPr>
            <p:cNvSpPr/>
            <p:nvPr/>
          </p:nvSpPr>
          <p:spPr>
            <a:xfrm>
              <a:off x="3261360" y="4462272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CAMP_DIW_01</a:t>
              </a:r>
              <a:endParaRPr lang="en-US" sz="900" dirty="0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76E3B801-4049-EF0B-7410-CAAB7C7459C4}"/>
                </a:ext>
              </a:extLst>
            </p:cNvPr>
            <p:cNvSpPr/>
            <p:nvPr/>
          </p:nvSpPr>
          <p:spPr>
            <a:xfrm>
              <a:off x="2026920" y="4754880"/>
              <a:ext cx="13716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Share: </a:t>
              </a:r>
              <a:endParaRPr lang="en-US" sz="900" dirty="0"/>
            </a:p>
          </p:txBody>
        </p:sp>
        <p:sp>
          <p:nvSpPr>
            <p:cNvPr id="23" name="Text 13">
              <a:extLst>
                <a:ext uri="{FF2B5EF4-FFF2-40B4-BE49-F238E27FC236}">
                  <a16:creationId xmlns:a16="http://schemas.microsoft.com/office/drawing/2014/main" id="{DF3B05E3-22CF-A0DD-3E4D-2C4817D06399}"/>
                </a:ext>
              </a:extLst>
            </p:cNvPr>
            <p:cNvSpPr/>
            <p:nvPr/>
          </p:nvSpPr>
          <p:spPr>
            <a:xfrm>
              <a:off x="3261360" y="4754880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64.6% of revenue</a:t>
              </a:r>
              <a:endParaRPr lang="en-US" sz="900" dirty="0"/>
            </a:p>
          </p:txBody>
        </p:sp>
        <p:sp>
          <p:nvSpPr>
            <p:cNvPr id="24" name="Shape 14">
              <a:extLst>
                <a:ext uri="{FF2B5EF4-FFF2-40B4-BE49-F238E27FC236}">
                  <a16:creationId xmlns:a16="http://schemas.microsoft.com/office/drawing/2014/main" id="{40F45D55-44D1-CBB7-E2EE-EA166933F020}"/>
                </a:ext>
              </a:extLst>
            </p:cNvPr>
            <p:cNvSpPr/>
            <p:nvPr/>
          </p:nvSpPr>
          <p:spPr>
            <a:xfrm>
              <a:off x="6416040" y="1792224"/>
              <a:ext cx="4224528" cy="2240280"/>
            </a:xfrm>
            <a:prstGeom prst="rect">
              <a:avLst/>
            </a:prstGeom>
            <a:solidFill>
              <a:srgbClr val="0090A2"/>
            </a:solidFill>
            <a:ln w="12700">
              <a:solidFill>
                <a:srgbClr val="0A8A78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3F2C20BE-DAF8-1D47-1F4E-D080CB59341A}"/>
                </a:ext>
              </a:extLst>
            </p:cNvPr>
            <p:cNvSpPr/>
            <p:nvPr/>
          </p:nvSpPr>
          <p:spPr>
            <a:xfrm>
              <a:off x="6553200" y="1847088"/>
              <a:ext cx="3931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Sankranti 2024</a:t>
              </a:r>
              <a:endParaRPr lang="en-US" sz="1800" dirty="0"/>
            </a:p>
          </p:txBody>
        </p:sp>
        <p:sp>
          <p:nvSpPr>
            <p:cNvPr id="26" name="Text 16">
              <a:extLst>
                <a:ext uri="{FF2B5EF4-FFF2-40B4-BE49-F238E27FC236}">
                  <a16:creationId xmlns:a16="http://schemas.microsoft.com/office/drawing/2014/main" id="{A747E715-53D9-4E0D-D95D-D2E66384F3C3}"/>
                </a:ext>
              </a:extLst>
            </p:cNvPr>
            <p:cNvSpPr/>
            <p:nvPr/>
          </p:nvSpPr>
          <p:spPr>
            <a:xfrm>
              <a:off x="6553200" y="2395728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000" dirty="0">
                  <a:solidFill>
                    <a:srgbClr val="BDD0E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Jan 10–16, 2024</a:t>
              </a:r>
              <a:endParaRPr lang="en-US" sz="1000" dirty="0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882534F0-5BCF-60F4-E432-0D313954B125}"/>
                </a:ext>
              </a:extLst>
            </p:cNvPr>
            <p:cNvSpPr/>
            <p:nvPr/>
          </p:nvSpPr>
          <p:spPr>
            <a:xfrm>
              <a:off x="6553200" y="2706624"/>
              <a:ext cx="393192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600" b="1" dirty="0">
                  <a:solidFill>
                    <a:srgbClr val="E8A02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23.07 M</a:t>
              </a:r>
              <a:endParaRPr lang="en-US" sz="2600" dirty="0"/>
            </a:p>
          </p:txBody>
        </p:sp>
        <p:sp>
          <p:nvSpPr>
            <p:cNvPr id="28" name="Text 18">
              <a:extLst>
                <a:ext uri="{FF2B5EF4-FFF2-40B4-BE49-F238E27FC236}">
                  <a16:creationId xmlns:a16="http://schemas.microsoft.com/office/drawing/2014/main" id="{1CD3CE93-C06A-49FE-1667-577FE57BE525}"/>
                </a:ext>
              </a:extLst>
            </p:cNvPr>
            <p:cNvSpPr/>
            <p:nvPr/>
          </p:nvSpPr>
          <p:spPr>
            <a:xfrm>
              <a:off x="6553200" y="3328416"/>
              <a:ext cx="393192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Discounted Revenue</a:t>
              </a:r>
              <a:endParaRPr lang="en-US" sz="900" dirty="0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C0E906F0-B08A-C3F0-EA68-D32B386B2037}"/>
                </a:ext>
              </a:extLst>
            </p:cNvPr>
            <p:cNvSpPr/>
            <p:nvPr/>
          </p:nvSpPr>
          <p:spPr>
            <a:xfrm>
              <a:off x="6598920" y="4169664"/>
              <a:ext cx="13716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Events: </a:t>
              </a:r>
              <a:endParaRPr lang="en-US" sz="900" dirty="0"/>
            </a:p>
          </p:txBody>
        </p:sp>
        <p:sp>
          <p:nvSpPr>
            <p:cNvPr id="30" name="Text 20">
              <a:extLst>
                <a:ext uri="{FF2B5EF4-FFF2-40B4-BE49-F238E27FC236}">
                  <a16:creationId xmlns:a16="http://schemas.microsoft.com/office/drawing/2014/main" id="{785C7351-8104-020B-9453-1F3F37D54F28}"/>
                </a:ext>
              </a:extLst>
            </p:cNvPr>
            <p:cNvSpPr/>
            <p:nvPr/>
          </p:nvSpPr>
          <p:spPr>
            <a:xfrm>
              <a:off x="7833360" y="4169664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750 events</a:t>
              </a:r>
              <a:endParaRPr lang="en-US" sz="900" dirty="0"/>
            </a:p>
          </p:txBody>
        </p:sp>
        <p:sp>
          <p:nvSpPr>
            <p:cNvPr id="31" name="Text 21">
              <a:extLst>
                <a:ext uri="{FF2B5EF4-FFF2-40B4-BE49-F238E27FC236}">
                  <a16:creationId xmlns:a16="http://schemas.microsoft.com/office/drawing/2014/main" id="{EBE33EC6-E48D-39DB-DB67-353FCC72B30C}"/>
                </a:ext>
              </a:extLst>
            </p:cNvPr>
            <p:cNvSpPr/>
            <p:nvPr/>
          </p:nvSpPr>
          <p:spPr>
            <a:xfrm>
              <a:off x="6598920" y="4462272"/>
              <a:ext cx="13716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Campaign ID: </a:t>
              </a:r>
              <a:endParaRPr lang="en-US" sz="900" dirty="0"/>
            </a:p>
          </p:txBody>
        </p:sp>
        <p:sp>
          <p:nvSpPr>
            <p:cNvPr id="32" name="Text 22">
              <a:extLst>
                <a:ext uri="{FF2B5EF4-FFF2-40B4-BE49-F238E27FC236}">
                  <a16:creationId xmlns:a16="http://schemas.microsoft.com/office/drawing/2014/main" id="{98E61D26-3932-0FF7-89B9-85A5AF778BAD}"/>
                </a:ext>
              </a:extLst>
            </p:cNvPr>
            <p:cNvSpPr/>
            <p:nvPr/>
          </p:nvSpPr>
          <p:spPr>
            <a:xfrm>
              <a:off x="7833360" y="4462272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CAMP_SAN_01</a:t>
              </a:r>
              <a:endParaRPr lang="en-US" sz="900" dirty="0"/>
            </a:p>
          </p:txBody>
        </p:sp>
        <p:sp>
          <p:nvSpPr>
            <p:cNvPr id="33" name="Text 23">
              <a:extLst>
                <a:ext uri="{FF2B5EF4-FFF2-40B4-BE49-F238E27FC236}">
                  <a16:creationId xmlns:a16="http://schemas.microsoft.com/office/drawing/2014/main" id="{C5DE08AD-BE66-F5D2-A4FA-DDD4292E7987}"/>
                </a:ext>
              </a:extLst>
            </p:cNvPr>
            <p:cNvSpPr/>
            <p:nvPr/>
          </p:nvSpPr>
          <p:spPr>
            <a:xfrm>
              <a:off x="6598920" y="4754880"/>
              <a:ext cx="137160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Share: </a:t>
              </a:r>
              <a:endParaRPr lang="en-US" sz="900" dirty="0"/>
            </a:p>
          </p:txBody>
        </p:sp>
        <p:sp>
          <p:nvSpPr>
            <p:cNvPr id="34" name="Text 24">
              <a:extLst>
                <a:ext uri="{FF2B5EF4-FFF2-40B4-BE49-F238E27FC236}">
                  <a16:creationId xmlns:a16="http://schemas.microsoft.com/office/drawing/2014/main" id="{10ABBF8B-400D-D635-B52F-0786A5E18A18}"/>
                </a:ext>
              </a:extLst>
            </p:cNvPr>
            <p:cNvSpPr/>
            <p:nvPr/>
          </p:nvSpPr>
          <p:spPr>
            <a:xfrm>
              <a:off x="7833360" y="4754880"/>
              <a:ext cx="256032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35.4% of revenue</a:t>
              </a:r>
              <a:endParaRPr lang="en-US" sz="900" dirty="0"/>
            </a:p>
          </p:txBody>
        </p:sp>
        <p:graphicFrame>
          <p:nvGraphicFramePr>
            <p:cNvPr id="35" name="Chart 34">
              <a:extLst>
                <a:ext uri="{FF2B5EF4-FFF2-40B4-BE49-F238E27FC236}">
                  <a16:creationId xmlns:a16="http://schemas.microsoft.com/office/drawing/2014/main" id="{403A6544-A24B-40A5-A9F8-CB0BC0C34AC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47069414"/>
                </p:ext>
              </p:extLst>
            </p:nvPr>
          </p:nvGraphicFramePr>
          <p:xfrm>
            <a:off x="1844040" y="4123944"/>
            <a:ext cx="8503920" cy="178308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0447544-0AEA-07CD-D3A6-4AD8623FD19C}"/>
              </a:ext>
            </a:extLst>
          </p:cNvPr>
          <p:cNvSpPr/>
          <p:nvPr/>
        </p:nvSpPr>
        <p:spPr>
          <a:xfrm>
            <a:off x="156972" y="80859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 Campaign Performance – Diwali vs Sankranti</a:t>
            </a:r>
            <a:endParaRPr lang="en-US" sz="32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D93F346-6EBF-D467-0F81-746263B474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42" y="4337640"/>
            <a:ext cx="10502342" cy="183354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E9702E-633E-AD2F-3B45-8F0EA598FA90}"/>
              </a:ext>
            </a:extLst>
          </p:cNvPr>
          <p:cNvSpPr/>
          <p:nvPr/>
        </p:nvSpPr>
        <p:spPr>
          <a:xfrm>
            <a:off x="11482761" y="6053328"/>
            <a:ext cx="486735" cy="603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276056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A414FD6-F6E3-2601-9872-F4B7F8D2ED95}"/>
              </a:ext>
            </a:extLst>
          </p:cNvPr>
          <p:cNvSpPr/>
          <p:nvPr/>
        </p:nvSpPr>
        <p:spPr>
          <a:xfrm>
            <a:off x="0" y="-25815"/>
            <a:ext cx="12588240" cy="7152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D824C7F-E713-A604-B0AB-F13D3C25A74F}"/>
              </a:ext>
            </a:extLst>
          </p:cNvPr>
          <p:cNvGrpSpPr/>
          <p:nvPr/>
        </p:nvGrpSpPr>
        <p:grpSpPr>
          <a:xfrm>
            <a:off x="795833" y="364832"/>
            <a:ext cx="11184255" cy="6016918"/>
            <a:chOff x="1816608" y="1060704"/>
            <a:chExt cx="8686800" cy="4846320"/>
          </a:xfrm>
        </p:grpSpPr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7D835031-B870-14B1-86C1-BFB66041CB9B}"/>
                </a:ext>
              </a:extLst>
            </p:cNvPr>
            <p:cNvSpPr/>
            <p:nvPr/>
          </p:nvSpPr>
          <p:spPr>
            <a:xfrm>
              <a:off x="1816608" y="1060704"/>
              <a:ext cx="86868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9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 | Promotion Type Analysis – Which Promo Worked Best?</a:t>
              </a:r>
              <a:endParaRPr lang="en-US" sz="1900" dirty="0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052856CC-CD11-6BAD-5C7D-181D5DF78B2C}"/>
                </a:ext>
              </a:extLst>
            </p:cNvPr>
            <p:cNvSpPr/>
            <p:nvPr/>
          </p:nvSpPr>
          <p:spPr>
            <a:xfrm>
              <a:off x="1844040" y="1792224"/>
              <a:ext cx="850392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2E92A117-E0EC-E796-605B-9C91EAADC5EC}"/>
                </a:ext>
              </a:extLst>
            </p:cNvPr>
            <p:cNvSpPr/>
            <p:nvPr/>
          </p:nvSpPr>
          <p:spPr>
            <a:xfrm>
              <a:off x="1844040" y="1792224"/>
              <a:ext cx="64008" cy="749808"/>
            </a:xfrm>
            <a:prstGeom prst="rect">
              <a:avLst/>
            </a:prstGeom>
            <a:solidFill>
              <a:srgbClr val="1E7E4A"/>
            </a:solidFill>
            <a:ln w="12700">
              <a:solidFill>
                <a:srgbClr val="1E7E4A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AE5F06C4-D3E2-C30B-F0CB-838BDF6CD168}"/>
                </a:ext>
              </a:extLst>
            </p:cNvPr>
            <p:cNvSpPr/>
            <p:nvPr/>
          </p:nvSpPr>
          <p:spPr>
            <a:xfrm>
              <a:off x="1844040" y="1792224"/>
              <a:ext cx="2286000" cy="74980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E24F18D0-C2EA-24E4-C97E-4823CEC9726D}"/>
                </a:ext>
              </a:extLst>
            </p:cNvPr>
            <p:cNvSpPr/>
            <p:nvPr/>
          </p:nvSpPr>
          <p:spPr>
            <a:xfrm>
              <a:off x="1962912" y="1865376"/>
              <a:ext cx="208483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1E7E4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BOGOF</a:t>
              </a:r>
              <a:endParaRPr lang="en-US" sz="14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6A1DD5A0-FAC9-C1EA-F21F-1EB1482B65C6}"/>
                </a:ext>
              </a:extLst>
            </p:cNvPr>
            <p:cNvSpPr/>
            <p:nvPr/>
          </p:nvSpPr>
          <p:spPr>
            <a:xfrm>
              <a:off x="1962912" y="2231136"/>
              <a:ext cx="208483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n=500 events</a:t>
              </a:r>
              <a:endParaRPr lang="en-US" sz="850" dirty="0"/>
            </a:p>
          </p:txBody>
        </p:sp>
        <p:sp>
          <p:nvSpPr>
            <p:cNvPr id="10" name="Text 8">
              <a:extLst>
                <a:ext uri="{FF2B5EF4-FFF2-40B4-BE49-F238E27FC236}">
                  <a16:creationId xmlns:a16="http://schemas.microsoft.com/office/drawing/2014/main" id="{BC469CAC-2610-A066-ABAD-F1CA76B04641}"/>
                </a:ext>
              </a:extLst>
            </p:cNvPr>
            <p:cNvSpPr/>
            <p:nvPr/>
          </p:nvSpPr>
          <p:spPr>
            <a:xfrm>
              <a:off x="4221480" y="1865376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1E7E4A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Avg Growth: 261.2%</a:t>
              </a:r>
              <a:endParaRPr lang="en-US" sz="1600" dirty="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8596F117-B996-E92D-7D29-006F88916DAB}"/>
                </a:ext>
              </a:extLst>
            </p:cNvPr>
            <p:cNvSpPr/>
            <p:nvPr/>
          </p:nvSpPr>
          <p:spPr>
            <a:xfrm>
              <a:off x="4221480" y="2203704"/>
              <a:ext cx="4343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Buy-one-get-one-free drove the highest average growth. Customers perceived massive value, triggering impulse purchases.</a:t>
              </a:r>
              <a:endParaRPr lang="en-US" sz="850" dirty="0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CD0A2883-891C-2561-D3E1-661E744438F9}"/>
                </a:ext>
              </a:extLst>
            </p:cNvPr>
            <p:cNvSpPr/>
            <p:nvPr/>
          </p:nvSpPr>
          <p:spPr>
            <a:xfrm>
              <a:off x="9204960" y="1975104"/>
              <a:ext cx="795528" cy="384048"/>
            </a:xfrm>
            <a:prstGeom prst="rect">
              <a:avLst/>
            </a:prstGeom>
            <a:solidFill>
              <a:srgbClr val="1E7E4A"/>
            </a:solidFill>
            <a:ln w="12700">
              <a:solidFill>
                <a:srgbClr val="1E7E4A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EFFCC5F5-66C5-4EDB-43D9-C54377B97735}"/>
                </a:ext>
              </a:extLst>
            </p:cNvPr>
            <p:cNvSpPr/>
            <p:nvPr/>
          </p:nvSpPr>
          <p:spPr>
            <a:xfrm>
              <a:off x="9204960" y="2020824"/>
              <a:ext cx="795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⭐ BEST</a:t>
              </a:r>
              <a:endParaRPr lang="en-US" sz="800" dirty="0"/>
            </a:p>
          </p:txBody>
        </p:sp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3F5D700D-6653-B169-A721-EBBBCA60ED69}"/>
                </a:ext>
              </a:extLst>
            </p:cNvPr>
            <p:cNvSpPr/>
            <p:nvPr/>
          </p:nvSpPr>
          <p:spPr>
            <a:xfrm>
              <a:off x="1844040" y="2633472"/>
              <a:ext cx="850392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FE0645B2-4199-7DEB-48B4-4CD0E8292854}"/>
                </a:ext>
              </a:extLst>
            </p:cNvPr>
            <p:cNvSpPr/>
            <p:nvPr/>
          </p:nvSpPr>
          <p:spPr>
            <a:xfrm>
              <a:off x="1844040" y="2633472"/>
              <a:ext cx="64008" cy="749808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95F78A48-4C51-E5FB-5060-0F4520858E44}"/>
                </a:ext>
              </a:extLst>
            </p:cNvPr>
            <p:cNvSpPr/>
            <p:nvPr/>
          </p:nvSpPr>
          <p:spPr>
            <a:xfrm>
              <a:off x="1844040" y="2633472"/>
              <a:ext cx="2286000" cy="74980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1CA204E8-D373-5702-4E03-AA2ECC358D7B}"/>
                </a:ext>
              </a:extLst>
            </p:cNvPr>
            <p:cNvSpPr/>
            <p:nvPr/>
          </p:nvSpPr>
          <p:spPr>
            <a:xfrm>
              <a:off x="1962912" y="2706624"/>
              <a:ext cx="208483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0A8A7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500 Cashback</a:t>
              </a:r>
              <a:endParaRPr lang="en-US" sz="1400" dirty="0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D442C4A6-9242-F172-7BBB-F69A16863D18}"/>
                </a:ext>
              </a:extLst>
            </p:cNvPr>
            <p:cNvSpPr/>
            <p:nvPr/>
          </p:nvSpPr>
          <p:spPr>
            <a:xfrm>
              <a:off x="1962912" y="3072384"/>
              <a:ext cx="208483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n=100 events</a:t>
              </a:r>
              <a:endParaRPr lang="en-US" sz="85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93B55D38-9F3C-F341-3451-0B61AAF6F54D}"/>
                </a:ext>
              </a:extLst>
            </p:cNvPr>
            <p:cNvSpPr/>
            <p:nvPr/>
          </p:nvSpPr>
          <p:spPr>
            <a:xfrm>
              <a:off x="4221480" y="2706624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0A8A7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Avg Growth: 162.2%</a:t>
              </a:r>
              <a:endParaRPr lang="en-US" sz="16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14BF8A05-CEE9-BE26-40FB-7C2EFFB94960}"/>
                </a:ext>
              </a:extLst>
            </p:cNvPr>
            <p:cNvSpPr/>
            <p:nvPr/>
          </p:nvSpPr>
          <p:spPr>
            <a:xfrm>
              <a:off x="4221480" y="3044952"/>
              <a:ext cx="4343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Direct cashback on high-ticket items drove strong uplift. Limited to 100 events — only used on Combo1 (₹3,000).</a:t>
              </a:r>
              <a:endParaRPr lang="en-US" sz="850" dirty="0"/>
            </a:p>
          </p:txBody>
        </p:sp>
        <p:sp>
          <p:nvSpPr>
            <p:cNvPr id="21" name="Shape 19">
              <a:extLst>
                <a:ext uri="{FF2B5EF4-FFF2-40B4-BE49-F238E27FC236}">
                  <a16:creationId xmlns:a16="http://schemas.microsoft.com/office/drawing/2014/main" id="{820EE21C-6F03-AC5F-316B-65AC163D3CE1}"/>
                </a:ext>
              </a:extLst>
            </p:cNvPr>
            <p:cNvSpPr/>
            <p:nvPr/>
          </p:nvSpPr>
          <p:spPr>
            <a:xfrm>
              <a:off x="9204960" y="2816352"/>
              <a:ext cx="795528" cy="384048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22" name="Text 20">
              <a:extLst>
                <a:ext uri="{FF2B5EF4-FFF2-40B4-BE49-F238E27FC236}">
                  <a16:creationId xmlns:a16="http://schemas.microsoft.com/office/drawing/2014/main" id="{75C51220-5E6D-D680-AEC8-EF7B5868E63F}"/>
                </a:ext>
              </a:extLst>
            </p:cNvPr>
            <p:cNvSpPr/>
            <p:nvPr/>
          </p:nvSpPr>
          <p:spPr>
            <a:xfrm>
              <a:off x="9204960" y="2862072"/>
              <a:ext cx="795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✅ GREAT</a:t>
              </a:r>
              <a:endParaRPr lang="en-US" sz="800" dirty="0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4EA6CC17-3DCA-9AD1-253B-8C046192E447}"/>
                </a:ext>
              </a:extLst>
            </p:cNvPr>
            <p:cNvSpPr/>
            <p:nvPr/>
          </p:nvSpPr>
          <p:spPr>
            <a:xfrm>
              <a:off x="1844040" y="3474720"/>
              <a:ext cx="850392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24" name="Shape 22">
              <a:extLst>
                <a:ext uri="{FF2B5EF4-FFF2-40B4-BE49-F238E27FC236}">
                  <a16:creationId xmlns:a16="http://schemas.microsoft.com/office/drawing/2014/main" id="{D29DD557-2E07-0A3A-5B78-90B6DC43E0FB}"/>
                </a:ext>
              </a:extLst>
            </p:cNvPr>
            <p:cNvSpPr/>
            <p:nvPr/>
          </p:nvSpPr>
          <p:spPr>
            <a:xfrm>
              <a:off x="1844040" y="3474720"/>
              <a:ext cx="64008" cy="749808"/>
            </a:xfrm>
            <a:prstGeom prst="rect">
              <a:avLst/>
            </a:prstGeom>
            <a:solidFill>
              <a:srgbClr val="C45C14"/>
            </a:solidFill>
            <a:ln w="12700">
              <a:solidFill>
                <a:srgbClr val="C45C14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25" name="Shape 23">
              <a:extLst>
                <a:ext uri="{FF2B5EF4-FFF2-40B4-BE49-F238E27FC236}">
                  <a16:creationId xmlns:a16="http://schemas.microsoft.com/office/drawing/2014/main" id="{AC00C496-CC05-BAFB-B206-55027A2D268B}"/>
                </a:ext>
              </a:extLst>
            </p:cNvPr>
            <p:cNvSpPr/>
            <p:nvPr/>
          </p:nvSpPr>
          <p:spPr>
            <a:xfrm>
              <a:off x="1844040" y="3474720"/>
              <a:ext cx="2286000" cy="74980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9EC53468-B550-CD6C-36CE-F93E6F8A1363}"/>
                </a:ext>
              </a:extLst>
            </p:cNvPr>
            <p:cNvSpPr/>
            <p:nvPr/>
          </p:nvSpPr>
          <p:spPr>
            <a:xfrm>
              <a:off x="1962912" y="3547872"/>
              <a:ext cx="208483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C45C14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33% OFF</a:t>
              </a:r>
              <a:endParaRPr lang="en-US" sz="14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C0725459-F720-75A8-7223-1E02E8159404}"/>
                </a:ext>
              </a:extLst>
            </p:cNvPr>
            <p:cNvSpPr/>
            <p:nvPr/>
          </p:nvSpPr>
          <p:spPr>
            <a:xfrm>
              <a:off x="1962912" y="3913632"/>
              <a:ext cx="208483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n=200 events</a:t>
              </a:r>
              <a:endParaRPr lang="en-US" sz="850" dirty="0"/>
            </a:p>
          </p:txBody>
        </p:sp>
        <p:sp>
          <p:nvSpPr>
            <p:cNvPr id="29" name="Text 26">
              <a:extLst>
                <a:ext uri="{FF2B5EF4-FFF2-40B4-BE49-F238E27FC236}">
                  <a16:creationId xmlns:a16="http://schemas.microsoft.com/office/drawing/2014/main" id="{7BAE96BF-A29C-8D9D-DC94-54B9B4B2BB6F}"/>
                </a:ext>
              </a:extLst>
            </p:cNvPr>
            <p:cNvSpPr/>
            <p:nvPr/>
          </p:nvSpPr>
          <p:spPr>
            <a:xfrm>
              <a:off x="4221480" y="3547872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C45C14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Avg Growth: 43.3%</a:t>
              </a:r>
              <a:endParaRPr lang="en-US" sz="1600" dirty="0"/>
            </a:p>
          </p:txBody>
        </p:sp>
        <p:sp>
          <p:nvSpPr>
            <p:cNvPr id="30" name="Text 27">
              <a:extLst>
                <a:ext uri="{FF2B5EF4-FFF2-40B4-BE49-F238E27FC236}">
                  <a16:creationId xmlns:a16="http://schemas.microsoft.com/office/drawing/2014/main" id="{8176B5A8-1FA8-CEE2-F887-8795B488D40A}"/>
                </a:ext>
              </a:extLst>
            </p:cNvPr>
            <p:cNvSpPr/>
            <p:nvPr/>
          </p:nvSpPr>
          <p:spPr>
            <a:xfrm>
              <a:off x="4221480" y="3886200"/>
              <a:ext cx="4343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Moderate discount generated positive but limited growth. Works well for mid-price categories.</a:t>
              </a:r>
              <a:endParaRPr lang="en-US" sz="850" dirty="0"/>
            </a:p>
          </p:txBody>
        </p:sp>
        <p:sp>
          <p:nvSpPr>
            <p:cNvPr id="31" name="Shape 28">
              <a:extLst>
                <a:ext uri="{FF2B5EF4-FFF2-40B4-BE49-F238E27FC236}">
                  <a16:creationId xmlns:a16="http://schemas.microsoft.com/office/drawing/2014/main" id="{4E6DB41A-3D7F-B92E-7D02-6CFFE7A2CFED}"/>
                </a:ext>
              </a:extLst>
            </p:cNvPr>
            <p:cNvSpPr/>
            <p:nvPr/>
          </p:nvSpPr>
          <p:spPr>
            <a:xfrm>
              <a:off x="9204960" y="3657600"/>
              <a:ext cx="795528" cy="384048"/>
            </a:xfrm>
            <a:prstGeom prst="rect">
              <a:avLst/>
            </a:prstGeom>
            <a:solidFill>
              <a:srgbClr val="C45C14"/>
            </a:solidFill>
            <a:ln w="12700">
              <a:solidFill>
                <a:srgbClr val="C45C14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32" name="Text 29">
              <a:extLst>
                <a:ext uri="{FF2B5EF4-FFF2-40B4-BE49-F238E27FC236}">
                  <a16:creationId xmlns:a16="http://schemas.microsoft.com/office/drawing/2014/main" id="{424C703A-8BAF-4FC8-9F58-1D23FE66D771}"/>
                </a:ext>
              </a:extLst>
            </p:cNvPr>
            <p:cNvSpPr/>
            <p:nvPr/>
          </p:nvSpPr>
          <p:spPr>
            <a:xfrm>
              <a:off x="9204960" y="3703320"/>
              <a:ext cx="795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👍 GOOD</a:t>
              </a:r>
              <a:endParaRPr lang="en-US" sz="800" dirty="0"/>
            </a:p>
          </p:txBody>
        </p:sp>
        <p:sp>
          <p:nvSpPr>
            <p:cNvPr id="33" name="Shape 30">
              <a:extLst>
                <a:ext uri="{FF2B5EF4-FFF2-40B4-BE49-F238E27FC236}">
                  <a16:creationId xmlns:a16="http://schemas.microsoft.com/office/drawing/2014/main" id="{A4D72478-EBF5-94F7-16DF-F7682940AFDF}"/>
                </a:ext>
              </a:extLst>
            </p:cNvPr>
            <p:cNvSpPr/>
            <p:nvPr/>
          </p:nvSpPr>
          <p:spPr>
            <a:xfrm>
              <a:off x="1844040" y="4315968"/>
              <a:ext cx="850392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34" name="Shape 31">
              <a:extLst>
                <a:ext uri="{FF2B5EF4-FFF2-40B4-BE49-F238E27FC236}">
                  <a16:creationId xmlns:a16="http://schemas.microsoft.com/office/drawing/2014/main" id="{6E588EA2-3641-792D-C7C1-B23E2D97996D}"/>
                </a:ext>
              </a:extLst>
            </p:cNvPr>
            <p:cNvSpPr/>
            <p:nvPr/>
          </p:nvSpPr>
          <p:spPr>
            <a:xfrm>
              <a:off x="1844040" y="4315968"/>
              <a:ext cx="64008" cy="749808"/>
            </a:xfrm>
            <a:prstGeom prst="rect">
              <a:avLst/>
            </a:prstGeom>
            <a:solidFill>
              <a:srgbClr val="26527E"/>
            </a:solidFill>
            <a:ln w="12700">
              <a:solidFill>
                <a:srgbClr val="26527E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35" name="Shape 32">
              <a:extLst>
                <a:ext uri="{FF2B5EF4-FFF2-40B4-BE49-F238E27FC236}">
                  <a16:creationId xmlns:a16="http://schemas.microsoft.com/office/drawing/2014/main" id="{F774C076-CAE1-F2C8-091E-654642A28174}"/>
                </a:ext>
              </a:extLst>
            </p:cNvPr>
            <p:cNvSpPr/>
            <p:nvPr/>
          </p:nvSpPr>
          <p:spPr>
            <a:xfrm>
              <a:off x="1844040" y="4315968"/>
              <a:ext cx="2286000" cy="74980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36" name="Text 33">
              <a:extLst>
                <a:ext uri="{FF2B5EF4-FFF2-40B4-BE49-F238E27FC236}">
                  <a16:creationId xmlns:a16="http://schemas.microsoft.com/office/drawing/2014/main" id="{533C4A90-4F81-BB6C-ACCC-5E05045AC1BD}"/>
                </a:ext>
              </a:extLst>
            </p:cNvPr>
            <p:cNvSpPr/>
            <p:nvPr/>
          </p:nvSpPr>
          <p:spPr>
            <a:xfrm>
              <a:off x="1962912" y="4389120"/>
              <a:ext cx="208483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26527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50% OFF</a:t>
              </a:r>
              <a:endParaRPr lang="en-US" sz="1400" dirty="0"/>
            </a:p>
          </p:txBody>
        </p:sp>
        <p:sp>
          <p:nvSpPr>
            <p:cNvPr id="37" name="Text 34">
              <a:extLst>
                <a:ext uri="{FF2B5EF4-FFF2-40B4-BE49-F238E27FC236}">
                  <a16:creationId xmlns:a16="http://schemas.microsoft.com/office/drawing/2014/main" id="{A0F1C574-349D-D8C5-E9BC-DF36BE38113A}"/>
                </a:ext>
              </a:extLst>
            </p:cNvPr>
            <p:cNvSpPr/>
            <p:nvPr/>
          </p:nvSpPr>
          <p:spPr>
            <a:xfrm>
              <a:off x="1962912" y="4754880"/>
              <a:ext cx="208483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n=300 events</a:t>
              </a:r>
              <a:endParaRPr lang="en-US" sz="850" dirty="0"/>
            </a:p>
          </p:txBody>
        </p:sp>
        <p:sp>
          <p:nvSpPr>
            <p:cNvPr id="38" name="Text 35">
              <a:extLst>
                <a:ext uri="{FF2B5EF4-FFF2-40B4-BE49-F238E27FC236}">
                  <a16:creationId xmlns:a16="http://schemas.microsoft.com/office/drawing/2014/main" id="{F7069C99-FF8D-D8EA-6B77-9BD882F24F7A}"/>
                </a:ext>
              </a:extLst>
            </p:cNvPr>
            <p:cNvSpPr/>
            <p:nvPr/>
          </p:nvSpPr>
          <p:spPr>
            <a:xfrm>
              <a:off x="4221480" y="438912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26527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Avg Growth: 33.5%</a:t>
              </a:r>
              <a:endParaRPr lang="en-US" sz="1600" dirty="0"/>
            </a:p>
          </p:txBody>
        </p:sp>
        <p:sp>
          <p:nvSpPr>
            <p:cNvPr id="39" name="Text 36">
              <a:extLst>
                <a:ext uri="{FF2B5EF4-FFF2-40B4-BE49-F238E27FC236}">
                  <a16:creationId xmlns:a16="http://schemas.microsoft.com/office/drawing/2014/main" id="{32734487-BF93-E082-4D86-4009915B4298}"/>
                </a:ext>
              </a:extLst>
            </p:cNvPr>
            <p:cNvSpPr/>
            <p:nvPr/>
          </p:nvSpPr>
          <p:spPr>
            <a:xfrm>
              <a:off x="4221480" y="4727448"/>
              <a:ext cx="4343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Despite being a large discount, growth was lower than BOGOF — possible margin erosion without volume uplift.</a:t>
              </a:r>
              <a:endParaRPr lang="en-US" sz="850" dirty="0"/>
            </a:p>
          </p:txBody>
        </p:sp>
        <p:sp>
          <p:nvSpPr>
            <p:cNvPr id="40" name="Shape 37">
              <a:extLst>
                <a:ext uri="{FF2B5EF4-FFF2-40B4-BE49-F238E27FC236}">
                  <a16:creationId xmlns:a16="http://schemas.microsoft.com/office/drawing/2014/main" id="{4E7FA864-C046-A8B5-17AB-943DB27CF0BA}"/>
                </a:ext>
              </a:extLst>
            </p:cNvPr>
            <p:cNvSpPr/>
            <p:nvPr/>
          </p:nvSpPr>
          <p:spPr>
            <a:xfrm>
              <a:off x="9204960" y="4498848"/>
              <a:ext cx="795528" cy="384048"/>
            </a:xfrm>
            <a:prstGeom prst="rect">
              <a:avLst/>
            </a:prstGeom>
            <a:solidFill>
              <a:srgbClr val="26527E"/>
            </a:solidFill>
            <a:ln w="12700">
              <a:solidFill>
                <a:srgbClr val="26527E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41" name="Text 38">
              <a:extLst>
                <a:ext uri="{FF2B5EF4-FFF2-40B4-BE49-F238E27FC236}">
                  <a16:creationId xmlns:a16="http://schemas.microsoft.com/office/drawing/2014/main" id="{579FAEAF-FD0D-AF66-4E72-4AFA264376A2}"/>
                </a:ext>
              </a:extLst>
            </p:cNvPr>
            <p:cNvSpPr/>
            <p:nvPr/>
          </p:nvSpPr>
          <p:spPr>
            <a:xfrm>
              <a:off x="9204960" y="4544568"/>
              <a:ext cx="795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👍 GOOD</a:t>
              </a:r>
              <a:endParaRPr lang="en-US" sz="800" dirty="0"/>
            </a:p>
          </p:txBody>
        </p:sp>
        <p:sp>
          <p:nvSpPr>
            <p:cNvPr id="42" name="Shape 39">
              <a:extLst>
                <a:ext uri="{FF2B5EF4-FFF2-40B4-BE49-F238E27FC236}">
                  <a16:creationId xmlns:a16="http://schemas.microsoft.com/office/drawing/2014/main" id="{17BE00C9-13E6-799F-139F-2ED5F3B26A50}"/>
                </a:ext>
              </a:extLst>
            </p:cNvPr>
            <p:cNvSpPr/>
            <p:nvPr/>
          </p:nvSpPr>
          <p:spPr>
            <a:xfrm>
              <a:off x="1844040" y="5157216"/>
              <a:ext cx="8503920" cy="74980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/>
            </a:p>
          </p:txBody>
        </p:sp>
        <p:sp>
          <p:nvSpPr>
            <p:cNvPr id="43" name="Shape 40">
              <a:extLst>
                <a:ext uri="{FF2B5EF4-FFF2-40B4-BE49-F238E27FC236}">
                  <a16:creationId xmlns:a16="http://schemas.microsoft.com/office/drawing/2014/main" id="{F14B2ABF-96E8-7B21-773E-78479C603C9A}"/>
                </a:ext>
              </a:extLst>
            </p:cNvPr>
            <p:cNvSpPr/>
            <p:nvPr/>
          </p:nvSpPr>
          <p:spPr>
            <a:xfrm>
              <a:off x="1844040" y="5157216"/>
              <a:ext cx="64008" cy="749808"/>
            </a:xfrm>
            <a:prstGeom prst="rect">
              <a:avLst/>
            </a:prstGeom>
            <a:solidFill>
              <a:srgbClr val="B83232"/>
            </a:solidFill>
            <a:ln w="12700">
              <a:solidFill>
                <a:srgbClr val="B83232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44" name="Shape 41">
              <a:extLst>
                <a:ext uri="{FF2B5EF4-FFF2-40B4-BE49-F238E27FC236}">
                  <a16:creationId xmlns:a16="http://schemas.microsoft.com/office/drawing/2014/main" id="{007DB4F6-CCC6-1B26-9AD8-6E3444CD3365}"/>
                </a:ext>
              </a:extLst>
            </p:cNvPr>
            <p:cNvSpPr/>
            <p:nvPr/>
          </p:nvSpPr>
          <p:spPr>
            <a:xfrm>
              <a:off x="1844040" y="5157216"/>
              <a:ext cx="2286000" cy="749808"/>
            </a:xfrm>
            <a:prstGeom prst="rect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45" name="Text 42">
              <a:extLst>
                <a:ext uri="{FF2B5EF4-FFF2-40B4-BE49-F238E27FC236}">
                  <a16:creationId xmlns:a16="http://schemas.microsoft.com/office/drawing/2014/main" id="{41C59243-5813-7E91-5E35-43FA180D3186}"/>
                </a:ext>
              </a:extLst>
            </p:cNvPr>
            <p:cNvSpPr/>
            <p:nvPr/>
          </p:nvSpPr>
          <p:spPr>
            <a:xfrm>
              <a:off x="1962912" y="5230368"/>
              <a:ext cx="2084832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400" b="1" dirty="0">
                  <a:solidFill>
                    <a:srgbClr val="B8323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25% OFF</a:t>
              </a:r>
              <a:endParaRPr lang="en-US" sz="1400" dirty="0"/>
            </a:p>
          </p:txBody>
        </p:sp>
        <p:sp>
          <p:nvSpPr>
            <p:cNvPr id="46" name="Text 43">
              <a:extLst>
                <a:ext uri="{FF2B5EF4-FFF2-40B4-BE49-F238E27FC236}">
                  <a16:creationId xmlns:a16="http://schemas.microsoft.com/office/drawing/2014/main" id="{61E16662-E115-EA7A-C193-BFA2BF264413}"/>
                </a:ext>
              </a:extLst>
            </p:cNvPr>
            <p:cNvSpPr/>
            <p:nvPr/>
          </p:nvSpPr>
          <p:spPr>
            <a:xfrm>
              <a:off x="1962912" y="5596128"/>
              <a:ext cx="208483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n=400 events</a:t>
              </a:r>
              <a:endParaRPr lang="en-US" sz="850" dirty="0"/>
            </a:p>
          </p:txBody>
        </p:sp>
        <p:sp>
          <p:nvSpPr>
            <p:cNvPr id="47" name="Text 44">
              <a:extLst>
                <a:ext uri="{FF2B5EF4-FFF2-40B4-BE49-F238E27FC236}">
                  <a16:creationId xmlns:a16="http://schemas.microsoft.com/office/drawing/2014/main" id="{138489AA-1086-618B-C7C1-563852046F32}"/>
                </a:ext>
              </a:extLst>
            </p:cNvPr>
            <p:cNvSpPr/>
            <p:nvPr/>
          </p:nvSpPr>
          <p:spPr>
            <a:xfrm>
              <a:off x="4221480" y="5230368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b="1" dirty="0">
                  <a:solidFill>
                    <a:srgbClr val="B83232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Avg Growth: -15.4%</a:t>
              </a:r>
              <a:endParaRPr lang="en-US" sz="1600" dirty="0"/>
            </a:p>
          </p:txBody>
        </p:sp>
        <p:sp>
          <p:nvSpPr>
            <p:cNvPr id="48" name="Text 45">
              <a:extLst>
                <a:ext uri="{FF2B5EF4-FFF2-40B4-BE49-F238E27FC236}">
                  <a16:creationId xmlns:a16="http://schemas.microsoft.com/office/drawing/2014/main" id="{003A0BB8-79DC-9442-DD74-2A53C367702F}"/>
                </a:ext>
              </a:extLst>
            </p:cNvPr>
            <p:cNvSpPr/>
            <p:nvPr/>
          </p:nvSpPr>
          <p:spPr>
            <a:xfrm>
              <a:off x="4221480" y="5568696"/>
              <a:ext cx="4343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Negative growth across all 400 events. Customers reduced purchases at 25% OFF — price point too close to base price to motivate action.</a:t>
              </a:r>
              <a:endParaRPr lang="en-US" sz="850" dirty="0"/>
            </a:p>
          </p:txBody>
        </p:sp>
        <p:sp>
          <p:nvSpPr>
            <p:cNvPr id="49" name="Shape 46">
              <a:extLst>
                <a:ext uri="{FF2B5EF4-FFF2-40B4-BE49-F238E27FC236}">
                  <a16:creationId xmlns:a16="http://schemas.microsoft.com/office/drawing/2014/main" id="{0BB674E6-BA6F-7EC2-E5EF-B7E722138584}"/>
                </a:ext>
              </a:extLst>
            </p:cNvPr>
            <p:cNvSpPr/>
            <p:nvPr/>
          </p:nvSpPr>
          <p:spPr>
            <a:xfrm>
              <a:off x="9204960" y="5340096"/>
              <a:ext cx="795528" cy="384048"/>
            </a:xfrm>
            <a:prstGeom prst="rect">
              <a:avLst/>
            </a:prstGeom>
            <a:solidFill>
              <a:srgbClr val="B83232"/>
            </a:solidFill>
            <a:ln w="12700">
              <a:solidFill>
                <a:srgbClr val="B83232"/>
              </a:solidFill>
              <a:prstDash val="solid"/>
            </a:ln>
          </p:spPr>
          <p:txBody>
            <a:bodyPr/>
            <a:lstStyle/>
            <a:p>
              <a:endParaRPr lang="hi-IN"/>
            </a:p>
          </p:txBody>
        </p:sp>
        <p:sp>
          <p:nvSpPr>
            <p:cNvPr id="50" name="Text 47">
              <a:extLst>
                <a:ext uri="{FF2B5EF4-FFF2-40B4-BE49-F238E27FC236}">
                  <a16:creationId xmlns:a16="http://schemas.microsoft.com/office/drawing/2014/main" id="{70E87D9E-4AEA-82D0-3BC9-3F925A6E6E0C}"/>
                </a:ext>
              </a:extLst>
            </p:cNvPr>
            <p:cNvSpPr/>
            <p:nvPr/>
          </p:nvSpPr>
          <p:spPr>
            <a:xfrm>
              <a:off x="9204960" y="5385816"/>
              <a:ext cx="79552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❌ AVOID</a:t>
              </a:r>
              <a:endParaRPr lang="en-US" sz="800" dirty="0"/>
            </a:p>
          </p:txBody>
        </p: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8FB5EFBA-DDF1-2AB5-6C44-14CC155874CE}"/>
              </a:ext>
            </a:extLst>
          </p:cNvPr>
          <p:cNvSpPr/>
          <p:nvPr/>
        </p:nvSpPr>
        <p:spPr>
          <a:xfrm>
            <a:off x="156972" y="80859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Promotion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Type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Analysis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Which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Promo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Worked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Best</a:t>
            </a: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756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FB6139E8-F642-833A-CD32-9AD98A221FD4}"/>
              </a:ext>
            </a:extLst>
          </p:cNvPr>
          <p:cNvSpPr/>
          <p:nvPr/>
        </p:nvSpPr>
        <p:spPr>
          <a:xfrm>
            <a:off x="156972" y="80859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Category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Sales</a:t>
            </a:r>
            <a:r>
              <a:rPr lang="en-US" sz="3200" b="1" dirty="0"/>
              <a:t> </a:t>
            </a:r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Performance Analysis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8A1DA49-3FE0-E46E-750F-D87D887DD8F6}"/>
              </a:ext>
            </a:extLst>
          </p:cNvPr>
          <p:cNvSpPr/>
          <p:nvPr/>
        </p:nvSpPr>
        <p:spPr>
          <a:xfrm>
            <a:off x="7735824" y="1051560"/>
            <a:ext cx="4099560" cy="4754880"/>
          </a:xfrm>
          <a:prstGeom prst="rect">
            <a:avLst/>
          </a:prstGeom>
          <a:solidFill>
            <a:schemeClr val="bg1"/>
          </a:solidFill>
          <a:ln>
            <a:solidFill>
              <a:srgbClr val="0090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Combo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offers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generated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highest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revenue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(158M).</a:t>
            </a:r>
            <a:endParaRPr lang="en-US" altLang="hi-IN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i-IN" altLang="hi-IN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Grocery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&amp;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Staples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shows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strong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consistent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demand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(58M).</a:t>
            </a:r>
            <a:endParaRPr lang="en-US" altLang="hi-IN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i-IN" altLang="hi-IN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Home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Appliances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Home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Care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have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moderate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sales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lang="en-US" altLang="hi-IN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i-IN" altLang="hi-IN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Personal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Care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has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the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lowest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sales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(2M)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and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needs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better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hi-IN" altLang="hi-IN" sz="2000" b="1" dirty="0" err="1">
                <a:solidFill>
                  <a:schemeClr val="tx1"/>
                </a:solidFill>
                <a:latin typeface="Arial" panose="020B0604020202020204" pitchFamily="34" charset="0"/>
              </a:rPr>
              <a:t>promotion</a:t>
            </a:r>
            <a:r>
              <a:rPr lang="hi-IN" altLang="hi-IN" sz="2000" b="1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56AD035D-C951-FA4F-F51D-00E7F9AD2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005" y="1133856"/>
            <a:ext cx="7283423" cy="4453128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B3C3A313-124D-2414-BB5C-41F33B251668}"/>
              </a:ext>
            </a:extLst>
          </p:cNvPr>
          <p:cNvSpPr/>
          <p:nvPr/>
        </p:nvSpPr>
        <p:spPr>
          <a:xfrm>
            <a:off x="11161776" y="5936665"/>
            <a:ext cx="1088136" cy="84047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</p:spTree>
    <p:extLst>
      <p:ext uri="{BB962C8B-B14F-4D97-AF65-F5344CB8AC3E}">
        <p14:creationId xmlns:p14="http://schemas.microsoft.com/office/powerpoint/2010/main" val="1662811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1E6AFF2E-6D09-1A96-6F05-B4E2DA08F285}"/>
              </a:ext>
            </a:extLst>
          </p:cNvPr>
          <p:cNvSpPr/>
          <p:nvPr/>
        </p:nvSpPr>
        <p:spPr>
          <a:xfrm>
            <a:off x="156972" y="80859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Top 5 Products 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B0E00A05-C127-DB38-585E-F427793A0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039" y="1488263"/>
            <a:ext cx="7224997" cy="5013122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87E12EB-B947-B65C-20F3-67DEC96672DB}"/>
              </a:ext>
            </a:extLst>
          </p:cNvPr>
          <p:cNvSpPr txBox="1"/>
          <p:nvPr/>
        </p:nvSpPr>
        <p:spPr>
          <a:xfrm>
            <a:off x="402336" y="1197864"/>
            <a:ext cx="433425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1600" b="1" dirty="0" err="1">
                <a:latin typeface="Arial" panose="020B0604020202020204" pitchFamily="34" charset="0"/>
              </a:rPr>
              <a:t>This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chart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shows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the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Top</a:t>
            </a:r>
            <a:r>
              <a:rPr lang="hi-IN" altLang="hi-IN" sz="1600" b="1" dirty="0">
                <a:latin typeface="Arial" panose="020B0604020202020204" pitchFamily="34" charset="0"/>
              </a:rPr>
              <a:t> 5 </a:t>
            </a:r>
            <a:r>
              <a:rPr lang="hi-IN" altLang="hi-IN" sz="1600" b="1" dirty="0" err="1">
                <a:latin typeface="Arial" panose="020B0604020202020204" pitchFamily="34" charset="0"/>
              </a:rPr>
              <a:t>products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in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terms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of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total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sales</a:t>
            </a:r>
            <a:r>
              <a:rPr lang="hi-IN" altLang="hi-IN" sz="1600" b="1" dirty="0">
                <a:latin typeface="Arial" panose="020B0604020202020204" pitchFamily="34" charset="0"/>
              </a:rPr>
              <a:t>.</a:t>
            </a:r>
            <a:endParaRPr lang="en-US" altLang="hi-IN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i-IN" altLang="hi-IN" sz="16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1600" b="1" dirty="0">
                <a:latin typeface="Arial" panose="020B0604020202020204" pitchFamily="34" charset="0"/>
              </a:rPr>
              <a:t>Atliq_Home_Essential_8_Product_Combo </a:t>
            </a:r>
            <a:r>
              <a:rPr lang="hi-IN" altLang="hi-IN" sz="1600" b="1" dirty="0" err="1">
                <a:latin typeface="Arial" panose="020B0604020202020204" pitchFamily="34" charset="0"/>
              </a:rPr>
              <a:t>has</a:t>
            </a:r>
            <a:r>
              <a:rPr lang="hi-IN" altLang="hi-IN" sz="1600" b="1" dirty="0">
                <a:latin typeface="Arial" panose="020B0604020202020204" pitchFamily="34" charset="0"/>
              </a:rPr>
              <a:t> 158M </a:t>
            </a:r>
            <a:r>
              <a:rPr lang="hi-IN" altLang="hi-IN" sz="1600" b="1" dirty="0" err="1">
                <a:latin typeface="Arial" panose="020B0604020202020204" pitchFamily="34" charset="0"/>
              </a:rPr>
              <a:t>sales</a:t>
            </a:r>
            <a:r>
              <a:rPr lang="hi-IN" altLang="hi-IN" sz="1600" b="1" dirty="0">
                <a:latin typeface="Arial" panose="020B0604020202020204" pitchFamily="34" charset="0"/>
              </a:rPr>
              <a:t>, </a:t>
            </a:r>
            <a:r>
              <a:rPr lang="hi-IN" altLang="hi-IN" sz="1600" b="1" dirty="0" err="1">
                <a:latin typeface="Arial" panose="020B0604020202020204" pitchFamily="34" charset="0"/>
              </a:rPr>
              <a:t>which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is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significantly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higher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than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the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other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products</a:t>
            </a:r>
            <a:r>
              <a:rPr lang="hi-IN" altLang="hi-IN" sz="1600" b="1" dirty="0">
                <a:latin typeface="Arial" panose="020B0604020202020204" pitchFamily="34" charset="0"/>
              </a:rPr>
              <a:t>.</a:t>
            </a:r>
            <a:endParaRPr lang="en-US" altLang="hi-IN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i-IN" altLang="hi-IN" sz="16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1600" b="1" dirty="0" err="1">
                <a:latin typeface="Arial" panose="020B0604020202020204" pitchFamily="34" charset="0"/>
              </a:rPr>
              <a:t>This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indicates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that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combo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bundle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products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are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extremely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popular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among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customers</a:t>
            </a:r>
            <a:r>
              <a:rPr lang="hi-IN" altLang="hi-IN" sz="1600" b="1" dirty="0">
                <a:latin typeface="Arial" panose="020B0604020202020204" pitchFamily="34" charset="0"/>
              </a:rPr>
              <a:t>.</a:t>
            </a:r>
            <a:endParaRPr lang="en-US" altLang="hi-IN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i-IN" altLang="hi-IN" sz="16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1600" b="1" dirty="0" err="1">
                <a:latin typeface="Arial" panose="020B0604020202020204" pitchFamily="34" charset="0"/>
              </a:rPr>
              <a:t>The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remaining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products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such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as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Rice</a:t>
            </a:r>
            <a:r>
              <a:rPr lang="hi-IN" altLang="hi-IN" sz="1600" b="1" dirty="0">
                <a:latin typeface="Arial" panose="020B0604020202020204" pitchFamily="34" charset="0"/>
              </a:rPr>
              <a:t>, </a:t>
            </a:r>
            <a:r>
              <a:rPr lang="hi-IN" altLang="hi-IN" sz="1600" b="1" dirty="0" err="1">
                <a:latin typeface="Arial" panose="020B0604020202020204" pitchFamily="34" charset="0"/>
              </a:rPr>
              <a:t>Atta</a:t>
            </a:r>
            <a:r>
              <a:rPr lang="hi-IN" altLang="hi-IN" sz="1600" b="1" dirty="0">
                <a:latin typeface="Arial" panose="020B0604020202020204" pitchFamily="34" charset="0"/>
              </a:rPr>
              <a:t>, </a:t>
            </a:r>
            <a:r>
              <a:rPr lang="hi-IN" altLang="hi-IN" sz="1600" b="1" dirty="0" err="1">
                <a:latin typeface="Arial" panose="020B0604020202020204" pitchFamily="34" charset="0"/>
              </a:rPr>
              <a:t>Immersion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Rod</a:t>
            </a:r>
            <a:r>
              <a:rPr lang="hi-IN" altLang="hi-IN" sz="1600" b="1" dirty="0">
                <a:latin typeface="Arial" panose="020B0604020202020204" pitchFamily="34" charset="0"/>
              </a:rPr>
              <a:t>, </a:t>
            </a:r>
            <a:r>
              <a:rPr lang="hi-IN" altLang="hi-IN" sz="1600" b="1" dirty="0" err="1">
                <a:latin typeface="Arial" panose="020B0604020202020204" pitchFamily="34" charset="0"/>
              </a:rPr>
              <a:t>and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Bedsheet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contribute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moderate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sales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ranging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from</a:t>
            </a:r>
            <a:r>
              <a:rPr lang="hi-IN" altLang="hi-IN" sz="1600" b="1" dirty="0">
                <a:latin typeface="Arial" panose="020B0604020202020204" pitchFamily="34" charset="0"/>
              </a:rPr>
              <a:t> 9M </a:t>
            </a:r>
            <a:r>
              <a:rPr lang="hi-IN" altLang="hi-IN" sz="1600" b="1" dirty="0" err="1">
                <a:latin typeface="Arial" panose="020B0604020202020204" pitchFamily="34" charset="0"/>
              </a:rPr>
              <a:t>to</a:t>
            </a:r>
            <a:r>
              <a:rPr lang="hi-IN" altLang="hi-IN" sz="1600" b="1" dirty="0">
                <a:latin typeface="Arial" panose="020B0604020202020204" pitchFamily="34" charset="0"/>
              </a:rPr>
              <a:t> 31M.</a:t>
            </a:r>
            <a:endParaRPr lang="en-US" altLang="hi-IN" sz="1600" b="1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hi-IN" altLang="hi-IN" sz="1600" b="1" dirty="0">
              <a:latin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hi-IN" altLang="hi-IN" sz="1600" b="1" dirty="0" err="1">
                <a:latin typeface="Arial" panose="020B0604020202020204" pitchFamily="34" charset="0"/>
              </a:rPr>
              <a:t>This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suggests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that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essential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grocery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products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maintain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stable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demand</a:t>
            </a:r>
            <a:r>
              <a:rPr lang="hi-IN" altLang="hi-IN" sz="1600" b="1" dirty="0">
                <a:latin typeface="Arial" panose="020B0604020202020204" pitchFamily="34" charset="0"/>
              </a:rPr>
              <a:t>, </a:t>
            </a:r>
            <a:r>
              <a:rPr lang="hi-IN" altLang="hi-IN" sz="1600" b="1" dirty="0" err="1">
                <a:latin typeface="Arial" panose="020B0604020202020204" pitchFamily="34" charset="0"/>
              </a:rPr>
              <a:t>while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combo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offers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drive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the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highest</a:t>
            </a:r>
            <a:r>
              <a:rPr lang="hi-IN" altLang="hi-IN" sz="1600" b="1" dirty="0">
                <a:latin typeface="Arial" panose="020B0604020202020204" pitchFamily="34" charset="0"/>
              </a:rPr>
              <a:t> </a:t>
            </a:r>
            <a:r>
              <a:rPr lang="hi-IN" altLang="hi-IN" sz="1600" b="1" dirty="0" err="1">
                <a:latin typeface="Arial" panose="020B0604020202020204" pitchFamily="34" charset="0"/>
              </a:rPr>
              <a:t>revenue</a:t>
            </a:r>
            <a:r>
              <a:rPr lang="hi-IN" altLang="hi-IN" sz="1600" b="1" dirty="0">
                <a:latin typeface="Arial" panose="020B0604020202020204" pitchFamily="34" charset="0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hi-IN" sz="1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BD1536-9D8F-F3AB-F418-59811BF3416C}"/>
              </a:ext>
            </a:extLst>
          </p:cNvPr>
          <p:cNvSpPr txBox="1"/>
          <p:nvPr/>
        </p:nvSpPr>
        <p:spPr>
          <a:xfrm>
            <a:off x="7333488" y="1488263"/>
            <a:ext cx="269748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TOP 5 Product</a:t>
            </a:r>
            <a:endParaRPr lang="hi-IN" b="1" dirty="0"/>
          </a:p>
        </p:txBody>
      </p:sp>
    </p:spTree>
    <p:extLst>
      <p:ext uri="{BB962C8B-B14F-4D97-AF65-F5344CB8AC3E}">
        <p14:creationId xmlns:p14="http://schemas.microsoft.com/office/powerpoint/2010/main" val="14869512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9C8DA-5A12-1E29-CF1F-0A60937F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16</a:t>
            </a:fld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8894188-B501-F0C4-FEBD-707B38A42215}"/>
              </a:ext>
            </a:extLst>
          </p:cNvPr>
          <p:cNvGrpSpPr/>
          <p:nvPr/>
        </p:nvGrpSpPr>
        <p:grpSpPr>
          <a:xfrm>
            <a:off x="752566" y="296470"/>
            <a:ext cx="11474997" cy="6463521"/>
            <a:chOff x="292608" y="109728"/>
            <a:chExt cx="8686800" cy="5029200"/>
          </a:xfrm>
        </p:grpSpPr>
        <p:sp>
          <p:nvSpPr>
            <p:cNvPr id="23" name="Text 2">
              <a:extLst>
                <a:ext uri="{FF2B5EF4-FFF2-40B4-BE49-F238E27FC236}">
                  <a16:creationId xmlns:a16="http://schemas.microsoft.com/office/drawing/2014/main" id="{154A6578-7506-370B-89FB-F52C5C847103}"/>
                </a:ext>
              </a:extLst>
            </p:cNvPr>
            <p:cNvSpPr/>
            <p:nvPr/>
          </p:nvSpPr>
          <p:spPr>
            <a:xfrm>
              <a:off x="292608" y="109728"/>
              <a:ext cx="86868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900" dirty="0"/>
            </a:p>
          </p:txBody>
        </p:sp>
        <p:graphicFrame>
          <p:nvGraphicFramePr>
            <p:cNvPr id="24" name="Chart 0">
              <a:extLst>
                <a:ext uri="{FF2B5EF4-FFF2-40B4-BE49-F238E27FC236}">
                  <a16:creationId xmlns:a16="http://schemas.microsoft.com/office/drawing/2014/main" id="{C8091B1B-97B3-B0F6-9AFE-0CF968ABD8E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58150098"/>
                </p:ext>
              </p:extLst>
            </p:nvPr>
          </p:nvGraphicFramePr>
          <p:xfrm>
            <a:off x="320040" y="822960"/>
            <a:ext cx="5120640" cy="41605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5" name="Shape 3">
              <a:extLst>
                <a:ext uri="{FF2B5EF4-FFF2-40B4-BE49-F238E27FC236}">
                  <a16:creationId xmlns:a16="http://schemas.microsoft.com/office/drawing/2014/main" id="{20569103-09E1-625F-3F76-E4A610D40AB7}"/>
                </a:ext>
              </a:extLst>
            </p:cNvPr>
            <p:cNvSpPr/>
            <p:nvPr/>
          </p:nvSpPr>
          <p:spPr>
            <a:xfrm>
              <a:off x="5623560" y="841248"/>
              <a:ext cx="3200400" cy="1298448"/>
            </a:xfrm>
            <a:prstGeom prst="rect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AA8D6360-65D0-F543-4233-DCEEEE68C0F0}"/>
                </a:ext>
              </a:extLst>
            </p:cNvPr>
            <p:cNvSpPr/>
            <p:nvPr/>
          </p:nvSpPr>
          <p:spPr>
            <a:xfrm>
              <a:off x="5760720" y="950976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Bengaluru</a:t>
              </a:r>
              <a:endParaRPr lang="en-US" sz="1400" dirty="0"/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ACCE07E8-F285-319E-F604-FE5CEF7B7DCD}"/>
                </a:ext>
              </a:extLst>
            </p:cNvPr>
            <p:cNvSpPr/>
            <p:nvPr/>
          </p:nvSpPr>
          <p:spPr>
            <a:xfrm>
              <a:off x="5760720" y="1371600"/>
              <a:ext cx="29260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8A02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₹5.97 Cr</a:t>
              </a:r>
              <a:endParaRPr lang="en-US" sz="2000" dirty="0"/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432F4A79-9084-F8A5-ACE3-3DBB20F18AA0}"/>
                </a:ext>
              </a:extLst>
            </p:cNvPr>
            <p:cNvSpPr/>
            <p:nvPr/>
          </p:nvSpPr>
          <p:spPr>
            <a:xfrm>
              <a:off x="5760720" y="1847088"/>
              <a:ext cx="29260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Share: 24.1%</a:t>
              </a:r>
              <a:endParaRPr lang="en-US" sz="900" dirty="0"/>
            </a:p>
          </p:txBody>
        </p:sp>
        <p:sp>
          <p:nvSpPr>
            <p:cNvPr id="29" name="Shape 7">
              <a:extLst>
                <a:ext uri="{FF2B5EF4-FFF2-40B4-BE49-F238E27FC236}">
                  <a16:creationId xmlns:a16="http://schemas.microsoft.com/office/drawing/2014/main" id="{7ECDD224-E96A-833B-44EF-53080A125EBD}"/>
                </a:ext>
              </a:extLst>
            </p:cNvPr>
            <p:cNvSpPr/>
            <p:nvPr/>
          </p:nvSpPr>
          <p:spPr>
            <a:xfrm>
              <a:off x="5623560" y="2304288"/>
              <a:ext cx="3200400" cy="1298448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5E49C480-78D4-55F3-2514-783501904C3E}"/>
                </a:ext>
              </a:extLst>
            </p:cNvPr>
            <p:cNvSpPr/>
            <p:nvPr/>
          </p:nvSpPr>
          <p:spPr>
            <a:xfrm>
              <a:off x="5760720" y="2414016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Chennai</a:t>
              </a:r>
              <a:endParaRPr lang="en-US" sz="1400" dirty="0"/>
            </a:p>
          </p:txBody>
        </p:sp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8C34F99F-0443-A1FC-94C6-DD6D16446093}"/>
                </a:ext>
              </a:extLst>
            </p:cNvPr>
            <p:cNvSpPr/>
            <p:nvPr/>
          </p:nvSpPr>
          <p:spPr>
            <a:xfrm>
              <a:off x="5760720" y="2834640"/>
              <a:ext cx="29260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8A02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₹4.75 Cr</a:t>
              </a:r>
              <a:endParaRPr lang="en-US" sz="2000" dirty="0"/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9ECE8CE1-F500-3463-4AD7-EDBE3DC48359}"/>
                </a:ext>
              </a:extLst>
            </p:cNvPr>
            <p:cNvSpPr/>
            <p:nvPr/>
          </p:nvSpPr>
          <p:spPr>
            <a:xfrm>
              <a:off x="5760720" y="3310128"/>
              <a:ext cx="29260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Share: 19.1%</a:t>
              </a:r>
              <a:endParaRPr lang="en-US" sz="900" dirty="0"/>
            </a:p>
          </p:txBody>
        </p:sp>
        <p:sp>
          <p:nvSpPr>
            <p:cNvPr id="33" name="Shape 11">
              <a:extLst>
                <a:ext uri="{FF2B5EF4-FFF2-40B4-BE49-F238E27FC236}">
                  <a16:creationId xmlns:a16="http://schemas.microsoft.com/office/drawing/2014/main" id="{B869D411-9F4C-4409-374A-46DE1E571AFF}"/>
                </a:ext>
              </a:extLst>
            </p:cNvPr>
            <p:cNvSpPr/>
            <p:nvPr/>
          </p:nvSpPr>
          <p:spPr>
            <a:xfrm>
              <a:off x="5623560" y="3767328"/>
              <a:ext cx="3200400" cy="1298448"/>
            </a:xfrm>
            <a:prstGeom prst="rect">
              <a:avLst/>
            </a:prstGeom>
            <a:solidFill>
              <a:srgbClr val="1E7E4A"/>
            </a:solidFill>
            <a:ln w="12700">
              <a:solidFill>
                <a:srgbClr val="1E7E4A"/>
              </a:solidFill>
              <a:prstDash val="solid"/>
            </a:ln>
          </p:spPr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72FB8529-00E3-47F8-9E77-573BECB68ECB}"/>
                </a:ext>
              </a:extLst>
            </p:cNvPr>
            <p:cNvSpPr/>
            <p:nvPr/>
          </p:nvSpPr>
          <p:spPr>
            <a:xfrm>
              <a:off x="5760720" y="3877056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Hyderabad</a:t>
              </a:r>
              <a:endParaRPr lang="en-US" sz="1400" dirty="0"/>
            </a:p>
          </p:txBody>
        </p:sp>
        <p:sp>
          <p:nvSpPr>
            <p:cNvPr id="35" name="Text 13">
              <a:extLst>
                <a:ext uri="{FF2B5EF4-FFF2-40B4-BE49-F238E27FC236}">
                  <a16:creationId xmlns:a16="http://schemas.microsoft.com/office/drawing/2014/main" id="{A6208318-23F6-BF8B-10AC-649E6830EAE8}"/>
                </a:ext>
              </a:extLst>
            </p:cNvPr>
            <p:cNvSpPr/>
            <p:nvPr/>
          </p:nvSpPr>
          <p:spPr>
            <a:xfrm>
              <a:off x="5760720" y="4297680"/>
              <a:ext cx="292608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E8A020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₹3.79 Cr</a:t>
              </a:r>
              <a:endParaRPr lang="en-US" sz="2000" dirty="0"/>
            </a:p>
          </p:txBody>
        </p:sp>
        <p:sp>
          <p:nvSpPr>
            <p:cNvPr id="36" name="Text 14">
              <a:extLst>
                <a:ext uri="{FF2B5EF4-FFF2-40B4-BE49-F238E27FC236}">
                  <a16:creationId xmlns:a16="http://schemas.microsoft.com/office/drawing/2014/main" id="{DB41A401-DC93-2CF2-EC41-7E523B81B6DF}"/>
                </a:ext>
              </a:extLst>
            </p:cNvPr>
            <p:cNvSpPr/>
            <p:nvPr/>
          </p:nvSpPr>
          <p:spPr>
            <a:xfrm>
              <a:off x="5760720" y="4773168"/>
              <a:ext cx="29260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Revenue Share: 15.3%</a:t>
              </a:r>
              <a:endParaRPr lang="en-US" sz="900" dirty="0"/>
            </a:p>
          </p:txBody>
        </p:sp>
        <p:sp>
          <p:nvSpPr>
            <p:cNvPr id="37" name="Text 15">
              <a:extLst>
                <a:ext uri="{FF2B5EF4-FFF2-40B4-BE49-F238E27FC236}">
                  <a16:creationId xmlns:a16="http://schemas.microsoft.com/office/drawing/2014/main" id="{C0BE0B04-A9CB-DA47-F5C4-B61D7D8C75CF}"/>
                </a:ext>
              </a:extLst>
            </p:cNvPr>
            <p:cNvSpPr/>
            <p:nvPr/>
          </p:nvSpPr>
          <p:spPr>
            <a:xfrm>
              <a:off x="292608" y="4882896"/>
              <a:ext cx="85039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i="1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3 cities (Bengaluru, Chennai, Hyderabad) contribute 58.5% of total revenue.</a:t>
              </a:r>
              <a:endParaRPr lang="en-US" sz="1050" b="1" dirty="0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5D600638-B535-22E9-0B57-6EBB5736F24A}"/>
              </a:ext>
            </a:extLst>
          </p:cNvPr>
          <p:cNvSpPr/>
          <p:nvPr/>
        </p:nvSpPr>
        <p:spPr>
          <a:xfrm>
            <a:off x="156972" y="80859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City &amp; Store Analysis – Regional Performance</a:t>
            </a:r>
            <a:endParaRPr lang="en-US" sz="3200" dirty="0">
              <a:solidFill>
                <a:schemeClr val="tx1"/>
              </a:solidFill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196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D3A17D-1B3E-DFE7-D134-828A1360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E24B5-652C-4DB5-B7C3-B5BBEC1280B1}" type="slidenum">
              <a:rPr lang="en-US" smtClean="0"/>
              <a:t>17</a:t>
            </a:fld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79CE5A5-8CEE-0395-9BFB-9F7181A591BD}"/>
              </a:ext>
            </a:extLst>
          </p:cNvPr>
          <p:cNvGrpSpPr/>
          <p:nvPr/>
        </p:nvGrpSpPr>
        <p:grpSpPr>
          <a:xfrm>
            <a:off x="385950" y="225801"/>
            <a:ext cx="11518194" cy="6314226"/>
            <a:chOff x="292608" y="109728"/>
            <a:chExt cx="8732520" cy="4828032"/>
          </a:xfrm>
        </p:grpSpPr>
        <p:sp>
          <p:nvSpPr>
            <p:cNvPr id="6" name="Text 2">
              <a:extLst>
                <a:ext uri="{FF2B5EF4-FFF2-40B4-BE49-F238E27FC236}">
                  <a16:creationId xmlns:a16="http://schemas.microsoft.com/office/drawing/2014/main" id="{BF0426FC-03F7-2795-92D0-388D8C704973}"/>
                </a:ext>
              </a:extLst>
            </p:cNvPr>
            <p:cNvSpPr/>
            <p:nvPr/>
          </p:nvSpPr>
          <p:spPr>
            <a:xfrm>
              <a:off x="292608" y="109728"/>
              <a:ext cx="8686800" cy="4937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900" dirty="0"/>
            </a:p>
          </p:txBody>
        </p:sp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00E41519-17AF-5386-3DAE-EA4D243F9EAC}"/>
                </a:ext>
              </a:extLst>
            </p:cNvPr>
            <p:cNvSpPr/>
            <p:nvPr/>
          </p:nvSpPr>
          <p:spPr>
            <a:xfrm>
              <a:off x="320040" y="822960"/>
              <a:ext cx="4251960" cy="1280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BB6AC30C-4380-7F89-6633-2A6AB4C21A8C}"/>
                </a:ext>
              </a:extLst>
            </p:cNvPr>
            <p:cNvSpPr/>
            <p:nvPr/>
          </p:nvSpPr>
          <p:spPr>
            <a:xfrm>
              <a:off x="320040" y="822960"/>
              <a:ext cx="64008" cy="1280160"/>
            </a:xfrm>
            <a:prstGeom prst="rect">
              <a:avLst/>
            </a:prstGeom>
            <a:solidFill>
              <a:srgbClr val="1E7E4A"/>
            </a:solidFill>
            <a:ln w="12700">
              <a:solidFill>
                <a:srgbClr val="1E7E4A"/>
              </a:solidFill>
              <a:prstDash val="solid"/>
            </a:ln>
          </p:spPr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9A63202C-769F-31FE-77EE-98C1F7B89100}"/>
                </a:ext>
              </a:extLst>
            </p:cNvPr>
            <p:cNvSpPr/>
            <p:nvPr/>
          </p:nvSpPr>
          <p:spPr>
            <a:xfrm>
              <a:off x="502920" y="896112"/>
              <a:ext cx="3913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🚀 BOGOF is the Most Effective Promotion</a:t>
              </a:r>
              <a:endParaRPr lang="en-US" sz="1400" dirty="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96894EAD-F100-3F13-ADC1-7DF767DBD7B5}"/>
                </a:ext>
              </a:extLst>
            </p:cNvPr>
            <p:cNvSpPr/>
            <p:nvPr/>
          </p:nvSpPr>
          <p:spPr>
            <a:xfrm>
              <a:off x="502920" y="1280160"/>
              <a:ext cx="391363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E7E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📌 Recommendation:</a:t>
              </a:r>
              <a:endParaRPr lang="en-US" sz="1050" dirty="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81AC0E2D-1970-7BDF-BDDE-526F0A2B925A}"/>
                </a:ext>
              </a:extLst>
            </p:cNvPr>
            <p:cNvSpPr/>
            <p:nvPr/>
          </p:nvSpPr>
          <p:spPr>
            <a:xfrm>
              <a:off x="502920" y="1481328"/>
              <a:ext cx="391363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Scale BOGOF promos across Grocery &amp; Home Care in ALL future campaigns. It consistently delivers 261% avg growth.</a:t>
              </a:r>
              <a:endParaRPr lang="en-US" sz="1050" dirty="0"/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A66F10FB-89A7-D717-15C8-B4AE0C5B47AE}"/>
                </a:ext>
              </a:extLst>
            </p:cNvPr>
            <p:cNvSpPr/>
            <p:nvPr/>
          </p:nvSpPr>
          <p:spPr>
            <a:xfrm>
              <a:off x="4773168" y="822960"/>
              <a:ext cx="4251960" cy="1280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  <p:txBody>
            <a:bodyPr/>
            <a:lstStyle/>
            <a:p>
              <a:endParaRPr lang="hi-IN" dirty="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FEAE13F7-5461-C9EA-A207-C5DB13325AFD}"/>
                </a:ext>
              </a:extLst>
            </p:cNvPr>
            <p:cNvSpPr/>
            <p:nvPr/>
          </p:nvSpPr>
          <p:spPr>
            <a:xfrm>
              <a:off x="4773168" y="822960"/>
              <a:ext cx="64008" cy="1280160"/>
            </a:xfrm>
            <a:prstGeom prst="rect">
              <a:avLst/>
            </a:prstGeom>
            <a:solidFill>
              <a:srgbClr val="B83232"/>
            </a:solidFill>
            <a:ln w="12700">
              <a:solidFill>
                <a:srgbClr val="B83232"/>
              </a:solidFill>
              <a:prstDash val="solid"/>
            </a:ln>
          </p:spPr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453ACA44-36C8-7E33-97CD-5B4196E4DBC4}"/>
                </a:ext>
              </a:extLst>
            </p:cNvPr>
            <p:cNvSpPr/>
            <p:nvPr/>
          </p:nvSpPr>
          <p:spPr>
            <a:xfrm>
              <a:off x="4956048" y="896112"/>
              <a:ext cx="3913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⚠️ Eliminate 25% OFF Immediately</a:t>
              </a:r>
              <a:endParaRPr lang="en-US" sz="1400" dirty="0"/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24370D44-7C90-CEEA-4224-A08AEDA25065}"/>
                </a:ext>
              </a:extLst>
            </p:cNvPr>
            <p:cNvSpPr/>
            <p:nvPr/>
          </p:nvSpPr>
          <p:spPr>
            <a:xfrm>
              <a:off x="4956048" y="1280160"/>
              <a:ext cx="391363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B832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📌 Recommendation:</a:t>
              </a:r>
              <a:endParaRPr lang="en-US" sz="1050" dirty="0"/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89C37741-68BE-CCC9-FA21-CB053D71CCB0}"/>
                </a:ext>
              </a:extLst>
            </p:cNvPr>
            <p:cNvSpPr/>
            <p:nvPr/>
          </p:nvSpPr>
          <p:spPr>
            <a:xfrm>
              <a:off x="4956048" y="1481328"/>
              <a:ext cx="391363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promo type caused negative sales growth across 400 events. Replace with higher-value promos (BOGOF or Cashback).</a:t>
              </a:r>
              <a:endParaRPr lang="en-US" sz="1050" dirty="0"/>
            </a:p>
          </p:txBody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78ACDB0E-43D2-056A-A985-4A5C440F0951}"/>
                </a:ext>
              </a:extLst>
            </p:cNvPr>
            <p:cNvSpPr/>
            <p:nvPr/>
          </p:nvSpPr>
          <p:spPr>
            <a:xfrm>
              <a:off x="320040" y="2240280"/>
              <a:ext cx="4251960" cy="1280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18" name="Shape 14">
              <a:extLst>
                <a:ext uri="{FF2B5EF4-FFF2-40B4-BE49-F238E27FC236}">
                  <a16:creationId xmlns:a16="http://schemas.microsoft.com/office/drawing/2014/main" id="{73248F14-B7CB-67D6-83C9-FFD6D63CA08F}"/>
                </a:ext>
              </a:extLst>
            </p:cNvPr>
            <p:cNvSpPr/>
            <p:nvPr/>
          </p:nvSpPr>
          <p:spPr>
            <a:xfrm>
              <a:off x="320040" y="2240280"/>
              <a:ext cx="64008" cy="1280160"/>
            </a:xfrm>
            <a:prstGeom prst="rect">
              <a:avLst/>
            </a:prstGeom>
            <a:solidFill>
              <a:srgbClr val="0A8A78"/>
            </a:solidFill>
            <a:ln w="12700">
              <a:solidFill>
                <a:srgbClr val="0A8A78"/>
              </a:solidFill>
              <a:prstDash val="solid"/>
            </a:ln>
          </p:spPr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299E1FAB-93FC-1E6F-ED2D-10ED3C0DE2F8}"/>
                </a:ext>
              </a:extLst>
            </p:cNvPr>
            <p:cNvSpPr/>
            <p:nvPr/>
          </p:nvSpPr>
          <p:spPr>
            <a:xfrm>
              <a:off x="502920" y="2313432"/>
              <a:ext cx="3913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💰 500 Cashback Works Exceptionally on High-Value Items</a:t>
              </a:r>
              <a:endParaRPr lang="en-US" sz="1400" dirty="0"/>
            </a:p>
          </p:txBody>
        </p:sp>
        <p:sp>
          <p:nvSpPr>
            <p:cNvPr id="20" name="Text 16">
              <a:extLst>
                <a:ext uri="{FF2B5EF4-FFF2-40B4-BE49-F238E27FC236}">
                  <a16:creationId xmlns:a16="http://schemas.microsoft.com/office/drawing/2014/main" id="{C605D3BF-5801-800A-A773-978971C4CB57}"/>
                </a:ext>
              </a:extLst>
            </p:cNvPr>
            <p:cNvSpPr/>
            <p:nvPr/>
          </p:nvSpPr>
          <p:spPr>
            <a:xfrm>
              <a:off x="502920" y="2697480"/>
              <a:ext cx="391363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A8A7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📌 Recommendation:</a:t>
              </a:r>
              <a:endParaRPr lang="en-US" sz="1050" dirty="0"/>
            </a:p>
          </p:txBody>
        </p:sp>
        <p:sp>
          <p:nvSpPr>
            <p:cNvPr id="21" name="Text 17">
              <a:extLst>
                <a:ext uri="{FF2B5EF4-FFF2-40B4-BE49-F238E27FC236}">
                  <a16:creationId xmlns:a16="http://schemas.microsoft.com/office/drawing/2014/main" id="{098ECC2C-8625-9717-8548-CBDBAEEF6B00}"/>
                </a:ext>
              </a:extLst>
            </p:cNvPr>
            <p:cNvSpPr/>
            <p:nvPr/>
          </p:nvSpPr>
          <p:spPr>
            <a:xfrm>
              <a:off x="502920" y="2898648"/>
              <a:ext cx="391363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Expand 500 Cashback beyond Combo1 to other high-ticket products like Home Appliances (Immersion Rod).</a:t>
              </a:r>
              <a:endParaRPr lang="en-US" sz="1050" dirty="0"/>
            </a:p>
          </p:txBody>
        </p:sp>
        <p:sp>
          <p:nvSpPr>
            <p:cNvPr id="22" name="Shape 18">
              <a:extLst>
                <a:ext uri="{FF2B5EF4-FFF2-40B4-BE49-F238E27FC236}">
                  <a16:creationId xmlns:a16="http://schemas.microsoft.com/office/drawing/2014/main" id="{A4CDDA66-A8AD-E8AD-B4D5-5284A43A1889}"/>
                </a:ext>
              </a:extLst>
            </p:cNvPr>
            <p:cNvSpPr/>
            <p:nvPr/>
          </p:nvSpPr>
          <p:spPr>
            <a:xfrm>
              <a:off x="4773168" y="2240280"/>
              <a:ext cx="4251960" cy="1280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23" name="Shape 19">
              <a:extLst>
                <a:ext uri="{FF2B5EF4-FFF2-40B4-BE49-F238E27FC236}">
                  <a16:creationId xmlns:a16="http://schemas.microsoft.com/office/drawing/2014/main" id="{7F136E75-1AD2-A698-866F-D646B0523887}"/>
                </a:ext>
              </a:extLst>
            </p:cNvPr>
            <p:cNvSpPr/>
            <p:nvPr/>
          </p:nvSpPr>
          <p:spPr>
            <a:xfrm>
              <a:off x="4773168" y="2240280"/>
              <a:ext cx="64008" cy="1280160"/>
            </a:xfrm>
            <a:prstGeom prst="rect">
              <a:avLst/>
            </a:prstGeom>
            <a:solidFill>
              <a:srgbClr val="1B3A5C"/>
            </a:solidFill>
            <a:ln w="12700">
              <a:solidFill>
                <a:srgbClr val="1B3A5C"/>
              </a:solidFill>
              <a:prstDash val="solid"/>
            </a:ln>
          </p:spPr>
        </p:sp>
        <p:sp>
          <p:nvSpPr>
            <p:cNvPr id="24" name="Text 20">
              <a:extLst>
                <a:ext uri="{FF2B5EF4-FFF2-40B4-BE49-F238E27FC236}">
                  <a16:creationId xmlns:a16="http://schemas.microsoft.com/office/drawing/2014/main" id="{3C6371DE-FA4C-C8B9-BD1C-6F8FCD79EF12}"/>
                </a:ext>
              </a:extLst>
            </p:cNvPr>
            <p:cNvSpPr/>
            <p:nvPr/>
          </p:nvSpPr>
          <p:spPr>
            <a:xfrm>
              <a:off x="4956048" y="2313432"/>
              <a:ext cx="3913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🏆 Grocery &amp; Staples is the Revenue King</a:t>
              </a:r>
              <a:endParaRPr lang="en-US" sz="1400" dirty="0"/>
            </a:p>
          </p:txBody>
        </p:sp>
        <p:sp>
          <p:nvSpPr>
            <p:cNvPr id="25" name="Text 21">
              <a:extLst>
                <a:ext uri="{FF2B5EF4-FFF2-40B4-BE49-F238E27FC236}">
                  <a16:creationId xmlns:a16="http://schemas.microsoft.com/office/drawing/2014/main" id="{CCFD28C6-69D8-7A15-9E37-8A84DC80E287}"/>
                </a:ext>
              </a:extLst>
            </p:cNvPr>
            <p:cNvSpPr/>
            <p:nvPr/>
          </p:nvSpPr>
          <p:spPr>
            <a:xfrm>
              <a:off x="4956048" y="2697480"/>
              <a:ext cx="391363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📌 Recommendation:</a:t>
              </a:r>
              <a:endParaRPr lang="en-US" sz="1050" dirty="0"/>
            </a:p>
          </p:txBody>
        </p:sp>
        <p:sp>
          <p:nvSpPr>
            <p:cNvPr id="26" name="Text 22">
              <a:extLst>
                <a:ext uri="{FF2B5EF4-FFF2-40B4-BE49-F238E27FC236}">
                  <a16:creationId xmlns:a16="http://schemas.microsoft.com/office/drawing/2014/main" id="{1D0FEA99-CD37-403A-B852-654F37E5CAA3}"/>
                </a:ext>
              </a:extLst>
            </p:cNvPr>
            <p:cNvSpPr/>
            <p:nvPr/>
          </p:nvSpPr>
          <p:spPr>
            <a:xfrm>
              <a:off x="4956048" y="2898648"/>
              <a:ext cx="391363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Grocery dominates at 37.6%. Invest more stock and promo budget here. Pair with BOGOF for maximum impact.</a:t>
              </a:r>
              <a:endParaRPr lang="en-US" sz="1050" dirty="0"/>
            </a:p>
          </p:txBody>
        </p:sp>
        <p:sp>
          <p:nvSpPr>
            <p:cNvPr id="27" name="Shape 23">
              <a:extLst>
                <a:ext uri="{FF2B5EF4-FFF2-40B4-BE49-F238E27FC236}">
                  <a16:creationId xmlns:a16="http://schemas.microsoft.com/office/drawing/2014/main" id="{04215508-7BE8-A62D-65EF-7E463B2773DA}"/>
                </a:ext>
              </a:extLst>
            </p:cNvPr>
            <p:cNvSpPr/>
            <p:nvPr/>
          </p:nvSpPr>
          <p:spPr>
            <a:xfrm>
              <a:off x="320040" y="3657600"/>
              <a:ext cx="4251960" cy="1280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28" name="Shape 24">
              <a:extLst>
                <a:ext uri="{FF2B5EF4-FFF2-40B4-BE49-F238E27FC236}">
                  <a16:creationId xmlns:a16="http://schemas.microsoft.com/office/drawing/2014/main" id="{27813E96-D3D8-B7F9-D044-E44D9374E9A3}"/>
                </a:ext>
              </a:extLst>
            </p:cNvPr>
            <p:cNvSpPr/>
            <p:nvPr/>
          </p:nvSpPr>
          <p:spPr>
            <a:xfrm>
              <a:off x="320040" y="3657600"/>
              <a:ext cx="64008" cy="1280160"/>
            </a:xfrm>
            <a:prstGeom prst="rect">
              <a:avLst/>
            </a:prstGeom>
            <a:solidFill>
              <a:srgbClr val="26527E"/>
            </a:solidFill>
            <a:ln w="12700">
              <a:solidFill>
                <a:srgbClr val="26527E"/>
              </a:solidFill>
              <a:prstDash val="solid"/>
            </a:ln>
          </p:spPr>
        </p:sp>
        <p:sp>
          <p:nvSpPr>
            <p:cNvPr id="29" name="Text 25">
              <a:extLst>
                <a:ext uri="{FF2B5EF4-FFF2-40B4-BE49-F238E27FC236}">
                  <a16:creationId xmlns:a16="http://schemas.microsoft.com/office/drawing/2014/main" id="{B5A8661B-09CB-F9A5-542E-74E3C25108C4}"/>
                </a:ext>
              </a:extLst>
            </p:cNvPr>
            <p:cNvSpPr/>
            <p:nvPr/>
          </p:nvSpPr>
          <p:spPr>
            <a:xfrm>
              <a:off x="502920" y="3730752"/>
              <a:ext cx="3913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🌆 Double Down on Metro Cities</a:t>
              </a:r>
              <a:endParaRPr lang="en-US" sz="1400" dirty="0"/>
            </a:p>
          </p:txBody>
        </p:sp>
        <p:sp>
          <p:nvSpPr>
            <p:cNvPr id="30" name="Text 26">
              <a:extLst>
                <a:ext uri="{FF2B5EF4-FFF2-40B4-BE49-F238E27FC236}">
                  <a16:creationId xmlns:a16="http://schemas.microsoft.com/office/drawing/2014/main" id="{F814201A-2100-7316-1D6E-B81B8618DAFF}"/>
                </a:ext>
              </a:extLst>
            </p:cNvPr>
            <p:cNvSpPr/>
            <p:nvPr/>
          </p:nvSpPr>
          <p:spPr>
            <a:xfrm>
              <a:off x="502920" y="4114800"/>
              <a:ext cx="391363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652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📌 Recommendation:</a:t>
              </a:r>
              <a:endParaRPr lang="en-US" sz="1050" dirty="0"/>
            </a:p>
          </p:txBody>
        </p:sp>
        <p:sp>
          <p:nvSpPr>
            <p:cNvPr id="31" name="Text 27">
              <a:extLst>
                <a:ext uri="{FF2B5EF4-FFF2-40B4-BE49-F238E27FC236}">
                  <a16:creationId xmlns:a16="http://schemas.microsoft.com/office/drawing/2014/main" id="{C9154B8E-9927-D971-7383-AC579764234D}"/>
                </a:ext>
              </a:extLst>
            </p:cNvPr>
            <p:cNvSpPr/>
            <p:nvPr/>
          </p:nvSpPr>
          <p:spPr>
            <a:xfrm>
              <a:off x="502920" y="4315968"/>
              <a:ext cx="391363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3 cities (BLR, CHN, HYD) = 58.5% of revenue. Increase store count and campaign intensity in these cities.</a:t>
              </a:r>
              <a:endParaRPr lang="en-US" sz="1050" dirty="0"/>
            </a:p>
          </p:txBody>
        </p:sp>
        <p:sp>
          <p:nvSpPr>
            <p:cNvPr id="32" name="Shape 28">
              <a:extLst>
                <a:ext uri="{FF2B5EF4-FFF2-40B4-BE49-F238E27FC236}">
                  <a16:creationId xmlns:a16="http://schemas.microsoft.com/office/drawing/2014/main" id="{5DD962FD-97D3-22EC-1B0B-69070D18AF21}"/>
                </a:ext>
              </a:extLst>
            </p:cNvPr>
            <p:cNvSpPr/>
            <p:nvPr/>
          </p:nvSpPr>
          <p:spPr>
            <a:xfrm>
              <a:off x="4773168" y="3657600"/>
              <a:ext cx="4251960" cy="1280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CE5F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9000"/>
                </a:srgbClr>
              </a:outerShdw>
            </a:effectLst>
          </p:spPr>
        </p:sp>
        <p:sp>
          <p:nvSpPr>
            <p:cNvPr id="33" name="Shape 29">
              <a:extLst>
                <a:ext uri="{FF2B5EF4-FFF2-40B4-BE49-F238E27FC236}">
                  <a16:creationId xmlns:a16="http://schemas.microsoft.com/office/drawing/2014/main" id="{0512234E-CD83-61C6-0F93-F45F1C47ED35}"/>
                </a:ext>
              </a:extLst>
            </p:cNvPr>
            <p:cNvSpPr/>
            <p:nvPr/>
          </p:nvSpPr>
          <p:spPr>
            <a:xfrm>
              <a:off x="4773168" y="3657600"/>
              <a:ext cx="64008" cy="1280160"/>
            </a:xfrm>
            <a:prstGeom prst="rect">
              <a:avLst/>
            </a:prstGeom>
            <a:solidFill>
              <a:srgbClr val="E8A020"/>
            </a:solidFill>
            <a:ln w="12700">
              <a:solidFill>
                <a:srgbClr val="E8A020"/>
              </a:solidFill>
              <a:prstDash val="solid"/>
            </a:ln>
          </p:spPr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F99F1429-E865-EBAD-8C05-F3BB3C0EF780}"/>
                </a:ext>
              </a:extLst>
            </p:cNvPr>
            <p:cNvSpPr/>
            <p:nvPr/>
          </p:nvSpPr>
          <p:spPr>
            <a:xfrm>
              <a:off x="4956048" y="3730752"/>
              <a:ext cx="3913632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📦 Combo Products Drive Outsized Value</a:t>
              </a:r>
              <a:endParaRPr lang="en-US" sz="1400" dirty="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45A16145-8271-DE93-5CDB-EDFFF64A9B55}"/>
                </a:ext>
              </a:extLst>
            </p:cNvPr>
            <p:cNvSpPr/>
            <p:nvPr/>
          </p:nvSpPr>
          <p:spPr>
            <a:xfrm>
              <a:off x="4956048" y="4114800"/>
              <a:ext cx="391363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E8A0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📌 Recommendation:</a:t>
              </a:r>
              <a:endParaRPr lang="en-US" sz="1050" dirty="0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FCFC2E2C-1FB0-4958-3012-7C596659A0C1}"/>
                </a:ext>
              </a:extLst>
            </p:cNvPr>
            <p:cNvSpPr/>
            <p:nvPr/>
          </p:nvSpPr>
          <p:spPr>
            <a:xfrm>
              <a:off x="4956048" y="4315968"/>
              <a:ext cx="3913632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4960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8-product combo generated ₹3.16 Cr alone. Design more bundle packages for festive season campaigns.</a:t>
              </a:r>
              <a:endParaRPr lang="en-US" sz="1050" dirty="0"/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83FBD94A-3EDA-50F8-70F7-91B940689282}"/>
              </a:ext>
            </a:extLst>
          </p:cNvPr>
          <p:cNvSpPr/>
          <p:nvPr/>
        </p:nvSpPr>
        <p:spPr>
          <a:xfrm>
            <a:off x="156972" y="80859"/>
            <a:ext cx="11878056" cy="840476"/>
          </a:xfrm>
          <a:prstGeom prst="rect">
            <a:avLst/>
          </a:prstGeom>
          <a:solidFill>
            <a:srgbClr val="0090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chemeClr val="tx1"/>
                </a:solidFill>
                <a:latin typeface="Century Schoolbook" panose="02040604050505020304" pitchFamily="18" charset="0"/>
                <a:ea typeface="Calibri" pitchFamily="34" charset="-122"/>
                <a:cs typeface="Calibri" pitchFamily="34" charset="-120"/>
              </a:rPr>
              <a:t>Key 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386391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 descr="People with documents">
            <a:extLst>
              <a:ext uri="{FF2B5EF4-FFF2-40B4-BE49-F238E27FC236}">
                <a16:creationId xmlns:a16="http://schemas.microsoft.com/office/drawing/2014/main" id="{9890ED56-18C3-CD8D-A5B4-B043A23E72E8}"/>
              </a:ext>
            </a:extLst>
          </p:cNvPr>
          <p:cNvSpPr/>
          <p:nvPr/>
        </p:nvSpPr>
        <p:spPr>
          <a:xfrm>
            <a:off x="-508" y="-9144"/>
            <a:ext cx="12189460" cy="6858000"/>
          </a:xfrm>
          <a:custGeom>
            <a:avLst/>
            <a:gdLst/>
            <a:ahLst/>
            <a:cxnLst/>
            <a:rect l="l" t="t" r="r" b="b"/>
            <a:pathLst>
              <a:path w="12189460" h="6858000">
                <a:moveTo>
                  <a:pt x="0" y="6858000"/>
                </a:moveTo>
                <a:lnTo>
                  <a:pt x="12188952" y="6858000"/>
                </a:lnTo>
                <a:lnTo>
                  <a:pt x="1218895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90A2">
              <a:alpha val="69999"/>
            </a:srgbClr>
          </a:solidFill>
        </p:spPr>
        <p:txBody>
          <a:bodyPr wrap="square" lIns="0" tIns="0" rIns="0" bIns="0" rtlCol="0"/>
          <a:lstStyle/>
          <a:p>
            <a:r>
              <a:rPr lang="en-US" dirty="0"/>
              <a:t>Data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36C84C-B4C5-643C-BCF3-5C6A12146ED9}"/>
              </a:ext>
            </a:extLst>
          </p:cNvPr>
          <p:cNvSpPr/>
          <p:nvPr/>
        </p:nvSpPr>
        <p:spPr>
          <a:xfrm>
            <a:off x="-508" y="0"/>
            <a:ext cx="585724" cy="69311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i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09CAE8-9E9D-E22E-ECD9-3782EAABFBCF}"/>
              </a:ext>
            </a:extLst>
          </p:cNvPr>
          <p:cNvSpPr txBox="1"/>
          <p:nvPr/>
        </p:nvSpPr>
        <p:spPr>
          <a:xfrm>
            <a:off x="1289304" y="2304288"/>
            <a:ext cx="73334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THANK YOU</a:t>
            </a:r>
          </a:p>
          <a:p>
            <a:endParaRPr lang="en-US" sz="6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AD07F13-228B-F6FA-1085-6A361455EE91}"/>
              </a:ext>
            </a:extLst>
          </p:cNvPr>
          <p:cNvSpPr/>
          <p:nvPr/>
        </p:nvSpPr>
        <p:spPr>
          <a:xfrm>
            <a:off x="5745480" y="1127760"/>
            <a:ext cx="64008" cy="64008"/>
          </a:xfrm>
          <a:prstGeom prst="ellipse">
            <a:avLst/>
          </a:prstGeom>
          <a:solidFill>
            <a:srgbClr val="E8A020">
              <a:alpha val="35000"/>
            </a:srgbClr>
          </a:solidFill>
          <a:ln w="12700">
            <a:solidFill>
              <a:srgbClr val="E8A020">
                <a:alpha val="35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55097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ysClr val="windowText" lastClr="000000"/>
      </a:dk1>
      <a:lt1>
        <a:sysClr val="window" lastClr="FFFFFF"/>
      </a:lt1>
      <a:dk2>
        <a:srgbClr val="00292E"/>
      </a:dk2>
      <a:lt2>
        <a:srgbClr val="64B2C1"/>
      </a:lt2>
      <a:accent1>
        <a:srgbClr val="F0CDA1"/>
      </a:accent1>
      <a:accent2>
        <a:srgbClr val="107082"/>
      </a:accent2>
      <a:accent3>
        <a:srgbClr val="054854"/>
      </a:accent3>
      <a:accent4>
        <a:srgbClr val="00AEEF"/>
      </a:accent4>
      <a:accent5>
        <a:srgbClr val="F99927"/>
      </a:accent5>
      <a:accent6>
        <a:srgbClr val="EC7216"/>
      </a:accent6>
      <a:hlink>
        <a:srgbClr val="000000"/>
      </a:hlink>
      <a:folHlink>
        <a:srgbClr val="000000"/>
      </a:folHlink>
    </a:clrScheme>
    <a:fontScheme name="Custom 24">
      <a:majorFont>
        <a:latin typeface="Gill Sans MT"/>
        <a:ea typeface=""/>
        <a:cs typeface=""/>
      </a:majorFont>
      <a:minorFont>
        <a:latin typeface="Arial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45022061_Professional services marketing plan_SL_V1" id="{B214D568-CC3C-4109-877A-D7A12976D35F}" vid="{D425069E-A49A-4A86-9A62-1864F0635A9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30">
    <a:dk1>
      <a:sysClr val="windowText" lastClr="000000"/>
    </a:dk1>
    <a:lt1>
      <a:sysClr val="window" lastClr="FFFFFF"/>
    </a:lt1>
    <a:dk2>
      <a:srgbClr val="00292E"/>
    </a:dk2>
    <a:lt2>
      <a:srgbClr val="64B2C1"/>
    </a:lt2>
    <a:accent1>
      <a:srgbClr val="F0CDA1"/>
    </a:accent1>
    <a:accent2>
      <a:srgbClr val="107082"/>
    </a:accent2>
    <a:accent3>
      <a:srgbClr val="054854"/>
    </a:accent3>
    <a:accent4>
      <a:srgbClr val="00AEEF"/>
    </a:accent4>
    <a:accent5>
      <a:srgbClr val="F99927"/>
    </a:accent5>
    <a:accent6>
      <a:srgbClr val="EC7216"/>
    </a:accent6>
    <a:hlink>
      <a:srgbClr val="000000"/>
    </a:hlink>
    <a:folHlink>
      <a:srgbClr val="000000"/>
    </a:folHlink>
  </a:clrScheme>
</a:themeOverride>
</file>

<file path=ppt/theme/themeOverride2.xml><?xml version="1.0" encoding="utf-8"?>
<a:themeOverride xmlns:a="http://schemas.openxmlformats.org/drawingml/2006/main">
  <a:clrScheme name="Custom 30">
    <a:dk1>
      <a:sysClr val="windowText" lastClr="000000"/>
    </a:dk1>
    <a:lt1>
      <a:sysClr val="window" lastClr="FFFFFF"/>
    </a:lt1>
    <a:dk2>
      <a:srgbClr val="00292E"/>
    </a:dk2>
    <a:lt2>
      <a:srgbClr val="64B2C1"/>
    </a:lt2>
    <a:accent1>
      <a:srgbClr val="F0CDA1"/>
    </a:accent1>
    <a:accent2>
      <a:srgbClr val="107082"/>
    </a:accent2>
    <a:accent3>
      <a:srgbClr val="054854"/>
    </a:accent3>
    <a:accent4>
      <a:srgbClr val="00AEEF"/>
    </a:accent4>
    <a:accent5>
      <a:srgbClr val="F99927"/>
    </a:accent5>
    <a:accent6>
      <a:srgbClr val="EC7216"/>
    </a:accent6>
    <a:hlink>
      <a:srgbClr val="000000"/>
    </a:hlink>
    <a:folHlink>
      <a:srgbClr val="000000"/>
    </a:folHlink>
  </a:clrScheme>
</a:themeOverride>
</file>

<file path=ppt/theme/themeOverride3.xml><?xml version="1.0" encoding="utf-8"?>
<a:themeOverride xmlns:a="http://schemas.openxmlformats.org/drawingml/2006/main">
  <a:clrScheme name="Custom 30">
    <a:dk1>
      <a:sysClr val="windowText" lastClr="000000"/>
    </a:dk1>
    <a:lt1>
      <a:sysClr val="window" lastClr="FFFFFF"/>
    </a:lt1>
    <a:dk2>
      <a:srgbClr val="00292E"/>
    </a:dk2>
    <a:lt2>
      <a:srgbClr val="64B2C1"/>
    </a:lt2>
    <a:accent1>
      <a:srgbClr val="F0CDA1"/>
    </a:accent1>
    <a:accent2>
      <a:srgbClr val="107082"/>
    </a:accent2>
    <a:accent3>
      <a:srgbClr val="054854"/>
    </a:accent3>
    <a:accent4>
      <a:srgbClr val="00AEEF"/>
    </a:accent4>
    <a:accent5>
      <a:srgbClr val="F99927"/>
    </a:accent5>
    <a:accent6>
      <a:srgbClr val="EC7216"/>
    </a:accent6>
    <a:hlink>
      <a:srgbClr val="000000"/>
    </a:hlink>
    <a:folHlink>
      <a:srgbClr val="00000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118CE8-9293-4220-BA3B-5D353B13ABC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2DDA16B-F3AC-4A5B-9F5F-6F5A8F47A9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26FE2C-7640-4BF0-9D68-FDFD4151FD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1379</Words>
  <Application>Microsoft Office PowerPoint</Application>
  <PresentationFormat>Widescreen</PresentationFormat>
  <Paragraphs>287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Algerian</vt:lpstr>
      <vt:lpstr>Aparajita</vt:lpstr>
      <vt:lpstr>Arial</vt:lpstr>
      <vt:lpstr>Arial </vt:lpstr>
      <vt:lpstr>Calibri</vt:lpstr>
      <vt:lpstr>Century Schoolbook</vt:lpstr>
      <vt:lpstr>Georgia</vt:lpstr>
      <vt:lpstr>Gill Sans MT</vt:lpstr>
      <vt:lpstr>Wingdings</vt:lpstr>
      <vt:lpstr>Office Theme</vt:lpstr>
      <vt:lpstr> ATLIQ MART Sales Performance Dashboard</vt:lpstr>
      <vt:lpstr>BUSINESS CONTEXT &amp; OBJECTIVE</vt:lpstr>
      <vt:lpstr>INDUSTRY OUTLOOK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Mishra</dc:creator>
  <cp:lastModifiedBy>Shubham Mishra</cp:lastModifiedBy>
  <cp:revision>2</cp:revision>
  <dcterms:created xsi:type="dcterms:W3CDTF">2026-03-14T08:49:13Z</dcterms:created>
  <dcterms:modified xsi:type="dcterms:W3CDTF">2026-05-14T08:58:14Z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